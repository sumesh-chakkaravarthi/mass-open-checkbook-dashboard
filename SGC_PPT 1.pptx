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3F2DD-8EC6-0B7B-4CB0-579B322A0B89}" v="282" dt="2026-03-19T23:45:27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8"/>
  </p:normalViewPr>
  <p:slideViewPr>
    <p:cSldViewPr snapToGrid="0" snapToObjects="1">
      <p:cViewPr varScale="1">
        <p:scale>
          <a:sx n="184" d="100"/>
          <a:sy n="184" d="100"/>
        </p:scale>
        <p:origin x="168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xmi Priya Samal" userId="S::samal.l@northeastern.edu::dafc5f70-4b16-4fb6-867a-8bf5a52043bd" providerId="AD" clId="Web-{8D73F2DD-8EC6-0B7B-4CB0-579B322A0B89}"/>
    <pc:docChg chg="modSld">
      <pc:chgData name="Laxmi Priya Samal" userId="S::samal.l@northeastern.edu::dafc5f70-4b16-4fb6-867a-8bf5a52043bd" providerId="AD" clId="Web-{8D73F2DD-8EC6-0B7B-4CB0-579B322A0B89}" dt="2026-03-19T23:45:27.342" v="227" actId="1076"/>
      <pc:docMkLst>
        <pc:docMk/>
      </pc:docMkLst>
      <pc:sldChg chg="addSp delSp modSp">
        <pc:chgData name="Laxmi Priya Samal" userId="S::samal.l@northeastern.edu::dafc5f70-4b16-4fb6-867a-8bf5a52043bd" providerId="AD" clId="Web-{8D73F2DD-8EC6-0B7B-4CB0-579B322A0B89}" dt="2026-03-19T23:45:27.342" v="227" actId="1076"/>
        <pc:sldMkLst>
          <pc:docMk/>
          <pc:sldMk cId="0" sldId="256"/>
        </pc:sldMkLst>
        <pc:spChg chg="mod">
          <ac:chgData name="Laxmi Priya Samal" userId="S::samal.l@northeastern.edu::dafc5f70-4b16-4fb6-867a-8bf5a52043bd" providerId="AD" clId="Web-{8D73F2DD-8EC6-0B7B-4CB0-579B322A0B89}" dt="2026-03-19T23:45:22.341" v="22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Laxmi Priya Samal" userId="S::samal.l@northeastern.edu::dafc5f70-4b16-4fb6-867a-8bf5a52043bd" providerId="AD" clId="Web-{8D73F2DD-8EC6-0B7B-4CB0-579B322A0B89}" dt="2026-03-19T23:30:59.955" v="8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Laxmi Priya Samal" userId="S::samal.l@northeastern.edu::dafc5f70-4b16-4fb6-867a-8bf5a52043bd" providerId="AD" clId="Web-{8D73F2DD-8EC6-0B7B-4CB0-579B322A0B89}" dt="2026-03-19T23:30:59.736" v="8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axmi Priya Samal" userId="S::samal.l@northeastern.edu::dafc5f70-4b16-4fb6-867a-8bf5a52043bd" providerId="AD" clId="Web-{8D73F2DD-8EC6-0B7B-4CB0-579B322A0B89}" dt="2026-03-19T23:45:27.342" v="227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Laxmi Priya Samal" userId="S::samal.l@northeastern.edu::dafc5f70-4b16-4fb6-867a-8bf5a52043bd" providerId="AD" clId="Web-{8D73F2DD-8EC6-0B7B-4CB0-579B322A0B89}" dt="2026-03-19T22:34:38.119" v="12"/>
          <ac:spMkLst>
            <pc:docMk/>
            <pc:sldMk cId="0" sldId="256"/>
            <ac:spMk id="6" creationId="{00000000-0000-0000-0000-000000000000}"/>
          </ac:spMkLst>
        </pc:spChg>
        <pc:spChg chg="add del">
          <ac:chgData name="Laxmi Priya Samal" userId="S::samal.l@northeastern.edu::dafc5f70-4b16-4fb6-867a-8bf5a52043bd" providerId="AD" clId="Web-{8D73F2DD-8EC6-0B7B-4CB0-579B322A0B89}" dt="2026-03-19T23:42:11.002" v="145"/>
          <ac:spMkLst>
            <pc:docMk/>
            <pc:sldMk cId="0" sldId="256"/>
            <ac:spMk id="6" creationId="{B4014100-2B4A-652D-A364-5256BC8CA8F6}"/>
          </ac:spMkLst>
        </pc:spChg>
        <pc:spChg chg="del mod">
          <ac:chgData name="Laxmi Priya Samal" userId="S::samal.l@northeastern.edu::dafc5f70-4b16-4fb6-867a-8bf5a52043bd" providerId="AD" clId="Web-{8D73F2DD-8EC6-0B7B-4CB0-579B322A0B89}" dt="2026-03-19T22:34:22.697" v="10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Laxmi Priya Samal" userId="S::samal.l@northeastern.edu::dafc5f70-4b16-4fb6-867a-8bf5a52043bd" providerId="AD" clId="Web-{8D73F2DD-8EC6-0B7B-4CB0-579B322A0B89}" dt="2026-03-19T23:44:49.371" v="20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Laxmi Priya Samal" userId="S::samal.l@northeastern.edu::dafc5f70-4b16-4fb6-867a-8bf5a52043bd" providerId="AD" clId="Web-{8D73F2DD-8EC6-0B7B-4CB0-579B322A0B89}" dt="2026-03-19T23:39:48.675" v="13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Laxmi Priya Samal" userId="S::samal.l@northeastern.edu::dafc5f70-4b16-4fb6-867a-8bf5a52043bd" providerId="AD" clId="Web-{8D73F2DD-8EC6-0B7B-4CB0-579B322A0B89}" dt="2026-03-19T23:39:39.924" v="136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Laxmi Priya Samal" userId="S::samal.l@northeastern.edu::dafc5f70-4b16-4fb6-867a-8bf5a52043bd" providerId="AD" clId="Web-{8D73F2DD-8EC6-0B7B-4CB0-579B322A0B89}" dt="2026-03-19T23:39:33.423" v="133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Laxmi Priya Samal" userId="S::samal.l@northeastern.edu::dafc5f70-4b16-4fb6-867a-8bf5a52043bd" providerId="AD" clId="Web-{8D73F2DD-8EC6-0B7B-4CB0-579B322A0B89}" dt="2026-03-19T23:39:27.782" v="131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Laxmi Priya Samal" userId="S::samal.l@northeastern.edu::dafc5f70-4b16-4fb6-867a-8bf5a52043bd" providerId="AD" clId="Web-{8D73F2DD-8EC6-0B7B-4CB0-579B322A0B89}" dt="2026-03-19T23:39:21.047" v="124"/>
          <ac:spMkLst>
            <pc:docMk/>
            <pc:sldMk cId="0" sldId="256"/>
            <ac:spMk id="13" creationId="{00000000-0000-0000-0000-000000000000}"/>
          </ac:spMkLst>
        </pc:spChg>
        <pc:spChg chg="del">
          <ac:chgData name="Laxmi Priya Samal" userId="S::samal.l@northeastern.edu::dafc5f70-4b16-4fb6-867a-8bf5a52043bd" providerId="AD" clId="Web-{8D73F2DD-8EC6-0B7B-4CB0-579B322A0B89}" dt="2026-03-19T23:39:13.858" v="119"/>
          <ac:spMkLst>
            <pc:docMk/>
            <pc:sldMk cId="0" sldId="256"/>
            <ac:spMk id="14" creationId="{00000000-0000-0000-0000-000000000000}"/>
          </ac:spMkLst>
        </pc:spChg>
        <pc:picChg chg="add mod">
          <ac:chgData name="Laxmi Priya Samal" userId="S::samal.l@northeastern.edu::dafc5f70-4b16-4fb6-867a-8bf5a52043bd" providerId="AD" clId="Web-{8D73F2DD-8EC6-0B7B-4CB0-579B322A0B89}" dt="2026-03-19T23:45:17.716" v="220" actId="1076"/>
          <ac:picMkLst>
            <pc:docMk/>
            <pc:sldMk cId="0" sldId="256"/>
            <ac:picMk id="16" creationId="{EAD75FFA-7118-EAB4-98C8-579DD80F908A}"/>
          </ac:picMkLst>
        </pc:picChg>
      </pc:sldChg>
      <pc:sldChg chg="modSp">
        <pc:chgData name="Laxmi Priya Samal" userId="S::samal.l@northeastern.edu::dafc5f70-4b16-4fb6-867a-8bf5a52043bd" providerId="AD" clId="Web-{8D73F2DD-8EC6-0B7B-4CB0-579B322A0B89}" dt="2026-03-19T22:52:24.677" v="71" actId="14100"/>
        <pc:sldMkLst>
          <pc:docMk/>
          <pc:sldMk cId="0" sldId="261"/>
        </pc:sldMkLst>
        <pc:spChg chg="mod">
          <ac:chgData name="Laxmi Priya Samal" userId="S::samal.l@northeastern.edu::dafc5f70-4b16-4fb6-867a-8bf5a52043bd" providerId="AD" clId="Web-{8D73F2DD-8EC6-0B7B-4CB0-579B322A0B89}" dt="2026-03-19T22:52:19.692" v="70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Laxmi Priya Samal" userId="S::samal.l@northeastern.edu::dafc5f70-4b16-4fb6-867a-8bf5a52043bd" providerId="AD" clId="Web-{8D73F2DD-8EC6-0B7B-4CB0-579B322A0B89}" dt="2026-03-19T22:52:24.677" v="71" actId="14100"/>
          <ac:spMkLst>
            <pc:docMk/>
            <pc:sldMk cId="0" sldId="261"/>
            <ac:spMk id="1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85FA5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5CC-BE41-B4A1-8FC63DBDD0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F6E56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1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5CC-BE41-B4A1-8FC63DBDD0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3266AD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2">
                  <c:v>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5CC-BE41-B4A1-8FC63DBDD03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S3</c:v>
                </c:pt>
              </c:strCache>
            </c:strRef>
          </c:tx>
          <c:spPr>
            <a:solidFill>
              <a:srgbClr val="BA7517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3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75CC-BE41-B4A1-8FC63DBDD03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S4</c:v>
                </c:pt>
              </c:strCache>
            </c:strRef>
          </c:tx>
          <c:spPr>
            <a:solidFill>
              <a:srgbClr val="534AB7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4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75CC-BE41-B4A1-8FC63DBDD03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S5</c:v>
                </c:pt>
              </c:strCache>
            </c:strRef>
          </c:tx>
          <c:spPr>
            <a:solidFill>
              <a:srgbClr val="639922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5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75CC-BE41-B4A1-8FC63DBDD03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S6</c:v>
                </c:pt>
              </c:strCache>
            </c:strRef>
          </c:tx>
          <c:spPr>
            <a:solidFill>
              <a:srgbClr val="993C1D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Sheet1!$H$2:$H$11</c:f>
              <c:numCache>
                <c:formatCode>General</c:formatCode>
                <c:ptCount val="10"/>
                <c:pt idx="6">
                  <c:v>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75CC-BE41-B4A1-8FC63DBDD034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S7</c:v>
                </c:pt>
              </c:strCache>
            </c:strRef>
          </c:tx>
          <c:spPr>
            <a:solidFill>
              <a:srgbClr val="888780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Sheet1!$I$2:$I$11</c:f>
              <c:numCache>
                <c:formatCode>General</c:formatCode>
                <c:ptCount val="10"/>
                <c:pt idx="7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75CC-BE41-B4A1-8FC63DBDD034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rgbClr val="D4537E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Sheet1!$J$2:$J$11</c:f>
              <c:numCache>
                <c:formatCode>General</c:formatCode>
                <c:ptCount val="10"/>
                <c:pt idx="8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75CC-BE41-B4A1-8FC63DBDD034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S9</c:v>
                </c:pt>
              </c:strCache>
            </c:strRef>
          </c:tx>
          <c:spPr>
            <a:solidFill>
              <a:srgbClr val="1D9E75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Healthcare</c:v>
                </c:pt>
                <c:pt idx="1">
                  <c:v>Education</c:v>
                </c:pt>
                <c:pt idx="2">
                  <c:v>Finance &amp; Ins.</c:v>
                </c:pt>
                <c:pt idx="3">
                  <c:v>Gov &amp; NP</c:v>
                </c:pt>
                <c:pt idx="4">
                  <c:v>Energy</c:v>
                </c:pt>
                <c:pt idx="5">
                  <c:v>Construction</c:v>
                </c:pt>
                <c:pt idx="6">
                  <c:v>Tech &amp; Eng.</c:v>
                </c:pt>
                <c:pt idx="7">
                  <c:v>Hospitality</c:v>
                </c:pt>
                <c:pt idx="8">
                  <c:v>Publishing</c:v>
                </c:pt>
                <c:pt idx="9">
                  <c:v>Misc</c:v>
                </c:pt>
              </c:strCache>
            </c:strRef>
          </c:cat>
          <c:val>
            <c:numRef>
              <c:f>Sheet1!$K$2:$K$11</c:f>
              <c:numCache>
                <c:formatCode>General</c:formatCode>
                <c:ptCount val="10"/>
                <c:pt idx="9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75CC-BE41-B4A1-8FC63DBDD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National &amp; Local</c:v>
                </c:pt>
              </c:strCache>
            </c:strRef>
          </c:tx>
          <c:spPr>
            <a:solidFill>
              <a:srgbClr val="00BCD4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Hospitality</c:v>
                </c:pt>
                <c:pt idx="1">
                  <c:v>Publishing</c:v>
                </c:pt>
                <c:pt idx="2">
                  <c:v>Misc</c:v>
                </c:pt>
                <c:pt idx="3">
                  <c:v>Construction</c:v>
                </c:pt>
                <c:pt idx="4">
                  <c:v>Education</c:v>
                </c:pt>
                <c:pt idx="5">
                  <c:v>Gov &amp; NP</c:v>
                </c:pt>
                <c:pt idx="6">
                  <c:v>Energy</c:v>
                </c:pt>
                <c:pt idx="7">
                  <c:v>Healthcare</c:v>
                </c:pt>
                <c:pt idx="8">
                  <c:v>Tech</c:v>
                </c:pt>
                <c:pt idx="9">
                  <c:v>Finance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11</c:v>
                </c:pt>
                <c:pt idx="4">
                  <c:v>13</c:v>
                </c:pt>
                <c:pt idx="5">
                  <c:v>25</c:v>
                </c:pt>
                <c:pt idx="6">
                  <c:v>20</c:v>
                </c:pt>
                <c:pt idx="7">
                  <c:v>21</c:v>
                </c:pt>
                <c:pt idx="8">
                  <c:v>25</c:v>
                </c:pt>
                <c:pt idx="9">
                  <c:v>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29A-8A4A-84ED-F32B9EE88B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Local Only</c:v>
                </c:pt>
              </c:strCache>
            </c:strRef>
          </c:tx>
          <c:spPr>
            <a:solidFill>
              <a:srgbClr val="7C4DFF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Hospitality</c:v>
                </c:pt>
                <c:pt idx="1">
                  <c:v>Publishing</c:v>
                </c:pt>
                <c:pt idx="2">
                  <c:v>Misc</c:v>
                </c:pt>
                <c:pt idx="3">
                  <c:v>Construction</c:v>
                </c:pt>
                <c:pt idx="4">
                  <c:v>Education</c:v>
                </c:pt>
                <c:pt idx="5">
                  <c:v>Gov &amp; NP</c:v>
                </c:pt>
                <c:pt idx="6">
                  <c:v>Energy</c:v>
                </c:pt>
                <c:pt idx="7">
                  <c:v>Healthcare</c:v>
                </c:pt>
                <c:pt idx="8">
                  <c:v>Tech</c:v>
                </c:pt>
                <c:pt idx="9">
                  <c:v>Finance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7</c:v>
                </c:pt>
                <c:pt idx="5">
                  <c:v>5</c:v>
                </c:pt>
                <c:pt idx="6">
                  <c:v>9</c:v>
                </c:pt>
                <c:pt idx="7">
                  <c:v>20</c:v>
                </c:pt>
                <c:pt idx="8">
                  <c:v>4</c:v>
                </c:pt>
                <c:pt idx="9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29A-8A4A-84ED-F32B9EE88B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SGC Target</c:v>
                </c:pt>
              </c:strCache>
            </c:strRef>
          </c:tx>
          <c:spPr>
            <a:solidFill>
              <a:srgbClr val="FF7043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Hospitality</c:v>
                </c:pt>
                <c:pt idx="1">
                  <c:v>Publishing</c:v>
                </c:pt>
                <c:pt idx="2">
                  <c:v>Misc</c:v>
                </c:pt>
                <c:pt idx="3">
                  <c:v>Construction</c:v>
                </c:pt>
                <c:pt idx="4">
                  <c:v>Education</c:v>
                </c:pt>
                <c:pt idx="5">
                  <c:v>Gov &amp; NP</c:v>
                </c:pt>
                <c:pt idx="6">
                  <c:v>Energy</c:v>
                </c:pt>
                <c:pt idx="7">
                  <c:v>Healthcare</c:v>
                </c:pt>
                <c:pt idx="8">
                  <c:v>Tech</c:v>
                </c:pt>
                <c:pt idx="9">
                  <c:v>Finance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  <c:pt idx="4">
                  <c:v>9</c:v>
                </c:pt>
                <c:pt idx="5">
                  <c:v>3</c:v>
                </c:pt>
                <c:pt idx="6">
                  <c:v>8</c:v>
                </c:pt>
                <c:pt idx="7">
                  <c:v>9</c:v>
                </c:pt>
                <c:pt idx="8">
                  <c:v>9</c:v>
                </c:pt>
                <c:pt idx="9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29A-8A4A-84ED-F32B9EE88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7226596675415573E-2"/>
          <c:y val="0.70619509338192232"/>
          <c:w val="0.95277340332458438"/>
          <c:h val="0.22952575142983161"/>
        </c:manualLayout>
      </c:layout>
      <c:overlay val="0"/>
      <c:txPr>
        <a:bodyPr/>
        <a:lstStyle/>
        <a:p>
          <a:pPr>
            <a:defRPr>
              <a:ln>
                <a:noFill/>
              </a:ln>
              <a:solidFill>
                <a:schemeClr val="tx1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Vendors</c:v>
                </c:pt>
              </c:strCache>
            </c:strRef>
          </c:tx>
          <c:dPt>
            <c:idx val="0"/>
            <c:bubble3D val="0"/>
            <c:spPr>
              <a:solidFill>
                <a:srgbClr val="B5D4F4"/>
              </a:solidFill>
            </c:spPr>
            <c:extLst>
              <c:ext xmlns:c16="http://schemas.microsoft.com/office/drawing/2014/chart" uri="{C3380CC4-5D6E-409C-BE32-E72D297353CC}">
                <c16:uniqueId val="{00000001-ADB9-C541-8558-86B10B3A0A66}"/>
              </c:ext>
            </c:extLst>
          </c:dPt>
          <c:dPt>
            <c:idx val="1"/>
            <c:bubble3D val="0"/>
            <c:spPr>
              <a:solidFill>
                <a:srgbClr val="378ADD"/>
              </a:solidFill>
            </c:spPr>
            <c:extLst>
              <c:ext xmlns:c16="http://schemas.microsoft.com/office/drawing/2014/chart" uri="{C3380CC4-5D6E-409C-BE32-E72D297353CC}">
                <c16:uniqueId val="{00000003-ADB9-C541-8558-86B10B3A0A66}"/>
              </c:ext>
            </c:extLst>
          </c:dPt>
          <c:dPt>
            <c:idx val="2"/>
            <c:bubble3D val="0"/>
            <c:spPr>
              <a:solidFill>
                <a:srgbClr val="185FA5"/>
              </a:solidFill>
            </c:spPr>
            <c:extLst>
              <c:ext xmlns:c16="http://schemas.microsoft.com/office/drawing/2014/chart" uri="{C3380CC4-5D6E-409C-BE32-E72D297353CC}">
                <c16:uniqueId val="{00000005-ADB9-C541-8558-86B10B3A0A66}"/>
              </c:ext>
            </c:extLst>
          </c:dPt>
          <c:dPt>
            <c:idx val="3"/>
            <c:bubble3D val="0"/>
            <c:spPr>
              <a:solidFill>
                <a:srgbClr val="0C447C"/>
              </a:solidFill>
            </c:spPr>
            <c:extLst>
              <c:ext xmlns:c16="http://schemas.microsoft.com/office/drawing/2014/chart" uri="{C3380CC4-5D6E-409C-BE32-E72D297353CC}">
                <c16:uniqueId val="{00000007-ADB9-C541-8558-86B10B3A0A66}"/>
              </c:ext>
            </c:extLst>
          </c:dPt>
          <c:dPt>
            <c:idx val="4"/>
            <c:bubble3D val="0"/>
            <c:spPr>
              <a:solidFill>
                <a:srgbClr val="042C53"/>
              </a:solidFill>
            </c:spPr>
            <c:extLst>
              <c:ext xmlns:c16="http://schemas.microsoft.com/office/drawing/2014/chart" uri="{C3380CC4-5D6E-409C-BE32-E72D297353CC}">
                <c16:uniqueId val="{00000009-ADB9-C541-8558-86B10B3A0A66}"/>
              </c:ext>
            </c:extLst>
          </c:dPt>
          <c:cat>
            <c:strRef>
              <c:f>Sheet1!$A$2:$A$6</c:f>
              <c:strCache>
                <c:ptCount val="5"/>
                <c:pt idx="0">
                  <c:v>0–5%</c:v>
                </c:pt>
                <c:pt idx="1">
                  <c:v>5–10%</c:v>
                </c:pt>
                <c:pt idx="2">
                  <c:v>10–20%</c:v>
                </c:pt>
                <c:pt idx="3">
                  <c:v>20–50%</c:v>
                </c:pt>
                <c:pt idx="4">
                  <c:v>50%+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676</c:v>
                </c:pt>
                <c:pt idx="1">
                  <c:v>251</c:v>
                </c:pt>
                <c:pt idx="2">
                  <c:v>224</c:v>
                </c:pt>
                <c:pt idx="3">
                  <c:v>55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DB9-C541-8558-86B10B3A0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000">
              <a:solidFill>
                <a:srgbClr val="1A1A2E"/>
              </a:solidFill>
              <a:latin typeface="Segoe U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378ADD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D3-6742-A164-256B422812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185FA5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1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BD3-6742-A164-256B422812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378ADD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2">
                  <c:v>5.0999999999999996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BD3-6742-A164-256B422812E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S3</c:v>
                </c:pt>
              </c:strCache>
            </c:strRef>
          </c:tx>
          <c:spPr>
            <a:solidFill>
              <a:srgbClr val="042C53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3">
                  <c:v>17.899999999999999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BD3-6742-A164-256B422812E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S4</c:v>
                </c:pt>
              </c:strCache>
            </c:strRef>
          </c:tx>
          <c:spPr>
            <a:solidFill>
              <a:srgbClr val="B5D4F4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4">
                  <c:v>3.1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BD3-6742-A164-256B422812E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S5</c:v>
                </c:pt>
              </c:strCache>
            </c:strRef>
          </c:tx>
          <c:spPr>
            <a:solidFill>
              <a:srgbClr val="B5D4F4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Sheet1!$G$2:$G$15</c:f>
              <c:numCache>
                <c:formatCode>General</c:formatCode>
                <c:ptCount val="14"/>
                <c:pt idx="5">
                  <c:v>2.7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1BD3-6742-A164-256B422812E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S6</c:v>
                </c:pt>
              </c:strCache>
            </c:strRef>
          </c:tx>
          <c:spPr>
            <a:solidFill>
              <a:srgbClr val="B5D4F4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Sheet1!$H$2:$H$15</c:f>
              <c:numCache>
                <c:formatCode>General</c:formatCode>
                <c:ptCount val="14"/>
                <c:pt idx="6">
                  <c:v>3.7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1BD3-6742-A164-256B422812E4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S7</c:v>
                </c:pt>
              </c:strCache>
            </c:strRef>
          </c:tx>
          <c:spPr>
            <a:solidFill>
              <a:srgbClr val="B5D4F4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Sheet1!$I$2:$I$15</c:f>
              <c:numCache>
                <c:formatCode>General</c:formatCode>
                <c:ptCount val="14"/>
                <c:pt idx="7">
                  <c:v>2.7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1BD3-6742-A164-256B422812E4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rgbClr val="B5D4F4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Sheet1!$J$2:$J$15</c:f>
              <c:numCache>
                <c:formatCode>General</c:formatCode>
                <c:ptCount val="14"/>
                <c:pt idx="8">
                  <c:v>4.8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1BD3-6742-A164-256B422812E4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S9</c:v>
                </c:pt>
              </c:strCache>
            </c:strRef>
          </c:tx>
          <c:spPr>
            <a:solidFill>
              <a:srgbClr val="B5D4F4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Sheet1!$K$2:$K$15</c:f>
              <c:numCache>
                <c:formatCode>General</c:formatCode>
                <c:ptCount val="14"/>
                <c:pt idx="9">
                  <c:v>4.5999999999999996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1BD3-6742-A164-256B422812E4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S10</c:v>
                </c:pt>
              </c:strCache>
            </c:strRef>
          </c:tx>
          <c:spPr>
            <a:solidFill>
              <a:srgbClr val="378ADD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Sheet1!$L$2:$L$15</c:f>
              <c:numCache>
                <c:formatCode>General</c:formatCode>
                <c:ptCount val="14"/>
                <c:pt idx="10">
                  <c:v>7.3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1BD3-6742-A164-256B422812E4}"/>
            </c:ext>
          </c:extLst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S11</c:v>
                </c:pt>
              </c:strCache>
            </c:strRef>
          </c:tx>
          <c:spPr>
            <a:solidFill>
              <a:srgbClr val="B5D4F4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Sheet1!$M$2:$M$15</c:f>
              <c:numCache>
                <c:formatCode>General</c:formatCode>
                <c:ptCount val="14"/>
                <c:pt idx="11">
                  <c:v>4.0999999999999996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B-1BD3-6742-A164-256B422812E4}"/>
            </c:ext>
          </c:extLst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S12</c:v>
                </c:pt>
              </c:strCache>
            </c:strRef>
          </c:tx>
          <c:spPr>
            <a:solidFill>
              <a:srgbClr val="185FA5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Sheet1!$N$2:$N$15</c:f>
              <c:numCache>
                <c:formatCode>General</c:formatCode>
                <c:ptCount val="14"/>
                <c:pt idx="12">
                  <c:v>13.2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1BD3-6742-A164-256B422812E4}"/>
            </c:ext>
          </c:extLst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S13</c:v>
                </c:pt>
              </c:strCache>
            </c:strRef>
          </c:tx>
          <c:spPr>
            <a:solidFill>
              <a:srgbClr val="B5D4F4"/>
            </a:solidFill>
          </c:spPr>
          <c:invertIfNegative val="1"/>
          <c:cat>
            <c:strRef>
              <c:f>Sheet1!$A$2:$A$15</c:f>
              <c:strCache>
                <c:ptCount val="14"/>
                <c:pt idx="0">
                  <c:v>IT Equip.</c:v>
                </c:pt>
                <c:pt idx="1">
                  <c:v>IT Services</c:v>
                </c:pt>
                <c:pt idx="2">
                  <c:v>IT Telecom</c:v>
                </c:pt>
                <c:pt idx="3">
                  <c:v>Facilities</c:v>
                </c:pt>
                <c:pt idx="4">
                  <c:v>Vehicle</c:v>
                </c:pt>
                <c:pt idx="5">
                  <c:v>Grocery</c:v>
                </c:pt>
                <c:pt idx="6">
                  <c:v>Laundry</c:v>
                </c:pt>
                <c:pt idx="7">
                  <c:v>Medical</c:v>
                </c:pt>
                <c:pt idx="8">
                  <c:v>MRO</c:v>
                </c:pt>
                <c:pt idx="9">
                  <c:v>Office</c:v>
                </c:pt>
                <c:pt idx="10">
                  <c:v>Professional</c:v>
                </c:pt>
                <c:pt idx="11">
                  <c:v>Print</c:v>
                </c:pt>
                <c:pt idx="12">
                  <c:v>Staffing</c:v>
                </c:pt>
                <c:pt idx="13">
                  <c:v>Waste</c:v>
                </c:pt>
              </c:strCache>
            </c:strRef>
          </c:cat>
          <c:val>
            <c:numRef>
              <c:f>Sheet1!$O$2:$O$15</c:f>
              <c:numCache>
                <c:formatCode>General</c:formatCode>
                <c:ptCount val="14"/>
                <c:pt idx="13">
                  <c:v>4.7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D-1BD3-6742-A164-256B42281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D4537E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44F-964B-85BE-702385C157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888780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1">
                  <c:v>5.31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44F-964B-85BE-702385C157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993C1D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2">
                  <c:v>7.02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44F-964B-85BE-702385C1579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S3</c:v>
                </c:pt>
              </c:strCache>
            </c:strRef>
          </c:tx>
          <c:spPr>
            <a:solidFill>
              <a:srgbClr val="3266AD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3">
                  <c:v>7.58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44F-964B-85BE-702385C1579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S4</c:v>
                </c:pt>
              </c:strCache>
            </c:strRef>
          </c:tx>
          <c:spPr>
            <a:solidFill>
              <a:srgbClr val="639922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4">
                  <c:v>7.68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44F-964B-85BE-702385C1579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S5</c:v>
                </c:pt>
              </c:strCache>
            </c:strRef>
          </c:tx>
          <c:spPr>
            <a:solidFill>
              <a:srgbClr val="1D9E75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5">
                  <c:v>8.3000000000000007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144F-964B-85BE-702385C1579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S6</c:v>
                </c:pt>
              </c:strCache>
            </c:strRef>
          </c:tx>
          <c:spPr>
            <a:solidFill>
              <a:srgbClr val="BA7517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Sheet1!$H$2:$H$11</c:f>
              <c:numCache>
                <c:formatCode>General</c:formatCode>
                <c:ptCount val="10"/>
                <c:pt idx="6">
                  <c:v>11.05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144F-964B-85BE-702385C15793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S7</c:v>
                </c:pt>
              </c:strCache>
            </c:strRef>
          </c:tx>
          <c:spPr>
            <a:solidFill>
              <a:srgbClr val="534AB7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Sheet1!$I$2:$I$11</c:f>
              <c:numCache>
                <c:formatCode>General</c:formatCode>
                <c:ptCount val="10"/>
                <c:pt idx="7">
                  <c:v>12.93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144F-964B-85BE-702385C15793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rgbClr val="0F6E56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Sheet1!$J$2:$J$11</c:f>
              <c:numCache>
                <c:formatCode>General</c:formatCode>
                <c:ptCount val="10"/>
                <c:pt idx="8">
                  <c:v>17.920000000000002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144F-964B-85BE-702385C15793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S9</c:v>
                </c:pt>
              </c:strCache>
            </c:strRef>
          </c:tx>
          <c:spPr>
            <a:solidFill>
              <a:srgbClr val="185FA5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R&amp;D Phys/Life Sci</c:v>
                </c:pt>
                <c:pt idx="1">
                  <c:v>Pharma Mfg</c:v>
                </c:pt>
                <c:pt idx="2">
                  <c:v>Computer Systems</c:v>
                </c:pt>
                <c:pt idx="3">
                  <c:v>Engineering Svc</c:v>
                </c:pt>
                <c:pt idx="4">
                  <c:v>Offices of Physicians</c:v>
                </c:pt>
                <c:pt idx="5">
                  <c:v>R&amp;D Phys/Eng/Life</c:v>
                </c:pt>
                <c:pt idx="6">
                  <c:v>Health Insurance</c:v>
                </c:pt>
                <c:pt idx="7">
                  <c:v>Aircraft Mfg</c:v>
                </c:pt>
                <c:pt idx="8">
                  <c:v>Bldg Construction</c:v>
                </c:pt>
                <c:pt idx="9">
                  <c:v>Facilities Support</c:v>
                </c:pt>
              </c:strCache>
            </c:strRef>
          </c:cat>
          <c:val>
            <c:numRef>
              <c:f>Sheet1!$K$2:$K$11</c:f>
              <c:numCache>
                <c:formatCode>General</c:formatCode>
                <c:ptCount val="10"/>
                <c:pt idx="9">
                  <c:v>19.55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144F-964B-85BE-702385C157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A3B1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75AE4-D5CB-5346-B3D9-13EC6EBDEFF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DCA46-C9FC-4241-8B39-7847F37D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9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DCA46-C9FC-4241-8B39-7847F37DC0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56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DCA46-C9FC-4241-8B39-7847F37DC0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47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DCA46-C9FC-4241-8B39-7847F37DC0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84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9680" y="-152843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  <a:p>
            <a:pPr algn="ctr"/>
            <a:r>
              <a:rPr lang="en-US" sz="1200" b="1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Team 5  </a:t>
            </a:r>
            <a:endParaRPr lang="en-US">
              <a:solidFill>
                <a:schemeClr val="bg1"/>
              </a:solidFill>
              <a:latin typeface="Calibri"/>
              <a:ea typeface="+mn-lt"/>
              <a:cs typeface="Calibri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Laxmi Priya Samal </a:t>
            </a:r>
            <a:b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</a:br>
            <a: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Vikhyat </a:t>
            </a:r>
            <a:r>
              <a:rPr lang="en-US" sz="1200" b="1" dirty="0" err="1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Raghumanda</a:t>
            </a:r>
            <a:b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</a:br>
            <a: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Sumesh </a:t>
            </a:r>
            <a:r>
              <a:rPr lang="en-US" sz="1200" b="1" dirty="0" err="1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Chakkaravarthi</a:t>
            </a:r>
            <a: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 Purushothaman</a:t>
            </a:r>
            <a:b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</a:br>
            <a: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Nimisha Sharma</a:t>
            </a:r>
            <a:b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</a:br>
            <a:r>
              <a:rPr lang="en-US" sz="1200" b="1" dirty="0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Krishna Murari Sharma  </a:t>
            </a:r>
            <a:br>
              <a:rPr lang="en-US" dirty="0">
                <a:ea typeface="+mn-lt"/>
                <a:cs typeface="+mn-lt"/>
              </a:rPr>
            </a:br>
            <a:endParaRPr>
              <a:ea typeface="+mn-lt"/>
              <a:cs typeface="+mn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08155" y="153375"/>
            <a:ext cx="914400" cy="91440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0" y="42769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365" y="2094614"/>
            <a:ext cx="73152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1">
                <a:solidFill>
                  <a:srgbClr val="185FA5"/>
                </a:solidFill>
                <a:latin typeface="Segoe UI"/>
              </a:defRPr>
            </a:pPr>
            <a:r>
              <a:rPr dirty="0"/>
              <a:t>ALY6980 · CAPSTONE PROJECT · </a:t>
            </a:r>
            <a:r>
              <a:rPr dirty="0">
                <a:solidFill>
                  <a:srgbClr val="0070C0"/>
                </a:solidFill>
              </a:rPr>
              <a:t>WINTER </a:t>
            </a:r>
            <a:r>
              <a:t>2026</a:t>
            </a:r>
            <a:br>
              <a:rPr lang="en-US" dirty="0">
                <a:cs typeface="Segoe UI"/>
              </a:rPr>
            </a:br>
            <a:br>
              <a:rPr lang="en-US" dirty="0"/>
            </a:br>
            <a:r>
              <a:rPr lang="en-US">
                <a:cs typeface="Segoe UI"/>
              </a:rPr>
              <a:t>SGC GROWTH INTELLIGENCE</a:t>
            </a:r>
            <a:endParaRPr lang="en-US" dirty="0">
              <a:cs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 red and white logo&#10;&#10;AI-generated content may be incorrect.">
            <a:extLst>
              <a:ext uri="{FF2B5EF4-FFF2-40B4-BE49-F238E27FC236}">
                <a16:creationId xmlns:a16="http://schemas.microsoft.com/office/drawing/2014/main" id="{EAD75FFA-7118-EAB4-98C8-579DD80F9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458" y="81518"/>
            <a:ext cx="1471724" cy="14252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The challenge SGC faces without a data-driven engagement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dirty="0"/>
              <a:t>SGC, a consulting firm seeking to bid on contracts across Massachusetts industries, currently relies on manual data lookup across thousands of vendor and company records</a:t>
            </a:r>
            <a:r>
              <a:rPr lang="en-US" dirty="0"/>
              <a:t> :</a:t>
            </a:r>
            <a:r>
              <a:rPr dirty="0"/>
              <a:t> making strategic, resource-efficient decision-making nearly impossible.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CORE 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566928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E0E6F0"/>
                </a:solidFill>
                <a:latin typeface="Segoe UI"/>
              </a:defRPr>
            </a:pPr>
            <a:r>
              <a:rPr dirty="0"/>
              <a:t>• No centralized view of which industry sectors hold the highest concentration of target companies for outreach</a:t>
            </a:r>
          </a:p>
          <a:p>
            <a:pPr>
              <a:spcAft>
                <a:spcPts val="800"/>
              </a:spcAft>
              <a:defRPr sz="1300" b="0">
                <a:solidFill>
                  <a:srgbClr val="E0E6F0"/>
                </a:solidFill>
                <a:latin typeface="Segoe UI"/>
              </a:defRPr>
            </a:pPr>
            <a:r>
              <a:rPr dirty="0"/>
              <a:t>• Vendor landscape is fragmented </a:t>
            </a:r>
            <a:r>
              <a:rPr lang="en-US" dirty="0"/>
              <a:t>:</a:t>
            </a:r>
            <a:r>
              <a:rPr dirty="0"/>
              <a:t> medical, logistical, and professional providers tracked in separate static lists</a:t>
            </a:r>
          </a:p>
          <a:p>
            <a:pPr>
              <a:spcAft>
                <a:spcPts val="800"/>
              </a:spcAft>
              <a:defRPr sz="1300" b="0">
                <a:solidFill>
                  <a:srgbClr val="E0E6F0"/>
                </a:solidFill>
                <a:latin typeface="Segoe UI"/>
              </a:defRPr>
            </a:pPr>
            <a:r>
              <a:rPr dirty="0"/>
              <a:t>• SDO (Supplier Diversity &amp; Opportunity) compliance data is unstructured, limiting CSR reporting capabilities</a:t>
            </a:r>
          </a:p>
          <a:p>
            <a:pPr>
              <a:spcAft>
                <a:spcPts val="800"/>
              </a:spcAft>
              <a:defRPr sz="1300" b="0">
                <a:solidFill>
                  <a:srgbClr val="E0E6F0"/>
                </a:solidFill>
                <a:latin typeface="Segoe UI"/>
              </a:defRPr>
            </a:pPr>
            <a:r>
              <a:rPr dirty="0"/>
              <a:t>• No visibility into federal contract spending patterns in Massachusetts that signal where SGC should focus bids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560320" cy="7315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3470" y="2485621"/>
            <a:ext cx="2560320" cy="33250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1,621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92400"/>
            <a:ext cx="2377440" cy="33250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r>
              <a:t>Vendors across unstructured lists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2560320" cy="731520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5220" y="3319549"/>
            <a:ext cx="2560320" cy="33250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147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15360"/>
            <a:ext cx="2377440" cy="33250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r>
              <a:t>Target companies with no unified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2560320" cy="731520"/>
          </a:xfrm>
          <a:prstGeom prst="round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3470" y="4135120"/>
            <a:ext cx="2560320" cy="33250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$19.5B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38320"/>
            <a:ext cx="2377440" cy="33250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r>
              <a:rPr sz="900" dirty="0"/>
              <a:t>MA federal spend with no strategic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Three guiding questions that shaped our analytical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81896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65176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rPr lang="en-IN" dirty="0"/>
              <a:t>0</a:t>
            </a:r>
            <a:r>
              <a:rPr dirty="0"/>
              <a:t>1</a:t>
            </a:r>
            <a:r>
              <a:rPr lang="en-IN" dirty="0"/>
              <a:t> —</a:t>
            </a:r>
            <a:r>
              <a:rPr dirty="0"/>
              <a:t> Market Density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2377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rPr dirty="0"/>
              <a:t>→ Which industry sectors (Healthcare, Tech, Finance) show the highest concentration of SGC Target companies for immediate consulting outreach?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371600"/>
            <a:ext cx="265176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t>02 — Vendor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2377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How can we visualize the vendor landscape to ensure a balanced mix of medical, logistical (VEH), and professional (PRF) service providers?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65176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t>03 — Compliance &amp; Diversity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737360"/>
            <a:ext cx="2377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What is the distribution of SDO Commitment Percentages across the vendor pool, and how does this impact SGC's CSR reporting?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HIGH-LEVEL 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dirty="0"/>
              <a:t>Deliver a functional, data-driven dashboard that transforms static lists of thousands of companies and vendor contacts into an actionable Business Development Funnel</a:t>
            </a:r>
            <a:r>
              <a:rPr lang="en-US" dirty="0"/>
              <a:t>,</a:t>
            </a:r>
            <a:r>
              <a:rPr dirty="0"/>
              <a:t> enabling SGC leadership to move from manual data lookup to strategic, educated decision-making regarding resource allocation and partnership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Data Sources &amp; 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Primary datasets used to build the SGC Growth Intelligence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411480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38404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rPr dirty="0"/>
              <a:t>Dataset 1 </a:t>
            </a:r>
            <a:r>
              <a:rPr lang="en-US" dirty="0"/>
              <a:t>- </a:t>
            </a:r>
            <a:r>
              <a:rPr dirty="0"/>
              <a:t>Categorized Companies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38404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147 companies across 10 industry sectors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Sectors: Healthcare, Finance, Tech, Energy, Education &amp; more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Includes national, local, and SGC-targeted classifications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58 priority accounts flagged for immediate outreach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80160"/>
            <a:ext cx="4114800" cy="16459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371600"/>
            <a:ext cx="38404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rPr dirty="0"/>
              <a:t>Dataset 2 </a:t>
            </a:r>
            <a:r>
              <a:rPr lang="en-US" dirty="0"/>
              <a:t>-</a:t>
            </a:r>
            <a:r>
              <a:rPr dirty="0"/>
              <a:t> Vendor Contact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45920"/>
            <a:ext cx="38404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1,621 vendors across 15 service categories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Service codes: MED, FAC, ITT, PRF, VEH &amp; more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Includes contact names, roles, emails, phone numbers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1,234 vendors with SDO commitment %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63240"/>
            <a:ext cx="4114800" cy="155448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28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154680"/>
            <a:ext cx="38404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A3E8"/>
                </a:solidFill>
                <a:latin typeface="Segoe UI"/>
              </a:defRPr>
            </a:pPr>
            <a:r>
              <a:rPr dirty="0"/>
              <a:t>Dataset 3 </a:t>
            </a:r>
            <a:r>
              <a:rPr lang="en-US" dirty="0"/>
              <a:t>- </a:t>
            </a:r>
            <a:r>
              <a:rPr dirty="0" err="1"/>
              <a:t>USASpending.gov</a:t>
            </a:r>
            <a:r>
              <a:rPr dirty="0"/>
              <a:t> (Massachusetts)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38404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Federal contract &amp; grant obligations by NAICS code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Top 10 awarding agencies by spend in MA</a:t>
            </a:r>
          </a:p>
          <a:p>
            <a:pPr>
              <a:spcAft>
                <a:spcPts val="400"/>
              </a:spcAft>
              <a:defRPr sz="1100" b="0">
                <a:solidFill>
                  <a:srgbClr val="C8D6E8"/>
                </a:solidFill>
                <a:latin typeface="Segoe UI"/>
              </a:defRPr>
            </a:pPr>
            <a:r>
              <a:t>→ HHS leads at $14.9B; Facilities Support tops NAICS at $19.5B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KEY DATASET STATS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38328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342900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363728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38328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147 Companies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38328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342900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0" y="363728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0" y="338328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1,621 Vendors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38328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42900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363728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338328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10 Sectors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338328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342900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363728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80960" y="338328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15 Service Codes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393192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397764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0" y="418592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63440" y="393192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58 SGC Targets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393192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0" y="397764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0" y="418592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0" y="393192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Federal MA Spend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393192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397764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66560" y="418592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0" y="393192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SDO Percentage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3931920"/>
            <a:ext cx="960120" cy="45720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80960" y="3977640"/>
            <a:ext cx="960120" cy="20781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0" y="4185920"/>
            <a:ext cx="777240" cy="20781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680960" y="3931920"/>
            <a:ext cx="96012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5BA3E8"/>
                </a:solidFill>
                <a:latin typeface="Segoe UI"/>
              </a:defRPr>
            </a:pPr>
            <a:r>
              <a:t>Contact Directory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Methodology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How raw data was transformed into a strategic decision-making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PIPELINE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Raw Data Sources</a:t>
            </a:r>
            <a:br/>
            <a:r>
              <a:t>(Cos/Vendors/USASpending)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6459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5FA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5740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Data Cleaning</a:t>
            </a:r>
            <a:br/>
            <a:r>
              <a:t>(Deduplication)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6459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5FA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4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Data Merging</a:t>
            </a:r>
            <a:br/>
            <a:r>
              <a:t>(Indexed by Service Code)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6459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5FA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Analysis &amp; Viz</a:t>
            </a:r>
            <a:br/>
            <a:r>
              <a:t>(Chart.js/HTML)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6459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5FA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554480"/>
            <a:ext cx="1554480" cy="685800"/>
          </a:xfrm>
          <a:prstGeom prst="roundRect">
            <a:avLst/>
          </a:prstGeom>
          <a:solidFill>
            <a:srgbClr val="142D50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160020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C8D6E8"/>
                </a:solidFill>
                <a:latin typeface="Segoe UI"/>
              </a:defRPr>
            </a:pPr>
            <a:r>
              <a:t>Interactive Dashboard</a:t>
            </a:r>
            <a:br/>
            <a:r>
              <a:t>(5-Tab Deployment)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ANALYTICAL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743200"/>
            <a:ext cx="4114800" cy="18288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800"/>
              </a:spcAft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dirty="0"/>
              <a:t>• Sector density analysis </a:t>
            </a:r>
            <a:r>
              <a:rPr lang="en-US" dirty="0"/>
              <a:t>:</a:t>
            </a:r>
            <a:r>
              <a:rPr dirty="0"/>
              <a:t> company count by industry with SGC target flagging</a:t>
            </a:r>
          </a:p>
          <a:p>
            <a:pPr>
              <a:spcAft>
                <a:spcPts val="800"/>
              </a:spcAft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dirty="0"/>
              <a:t>• SDO tier segmentation </a:t>
            </a:r>
            <a:r>
              <a:rPr lang="en-US" dirty="0"/>
              <a:t>:</a:t>
            </a:r>
            <a:r>
              <a:rPr dirty="0"/>
              <a:t> vendors bucketed into 5 diversity commitment levels</a:t>
            </a:r>
          </a:p>
          <a:p>
            <a:pPr>
              <a:spcAft>
                <a:spcPts val="800"/>
              </a:spcAft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dirty="0"/>
              <a:t>• National vs local presence mapping across all 10 sectors</a:t>
            </a:r>
          </a:p>
          <a:p>
            <a:pPr>
              <a:spcAft>
                <a:spcPts val="800"/>
              </a:spcAft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dirty="0"/>
              <a:t>• Federal spend alignment </a:t>
            </a:r>
            <a:r>
              <a:rPr lang="en-US" dirty="0"/>
              <a:t>:</a:t>
            </a:r>
            <a:r>
              <a:rPr dirty="0"/>
              <a:t> NAICS obligations mapped to SGC service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TOOLS &amp; TECHNOLOGIES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283464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0" y="288036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306324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283464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Python/Pandas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283464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288036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306324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283464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Excel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283464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288036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06640" y="306324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283464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Chart.js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333756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0" y="338328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0" y="356616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0" y="333756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t>HTML/CSS/JS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3337560"/>
            <a:ext cx="1188720" cy="411480"/>
          </a:xfrm>
          <a:prstGeom prst="roundRect">
            <a:avLst/>
          </a:prstGeom>
          <a:solidFill>
            <a:srgbClr val="1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35040" y="3383280"/>
            <a:ext cx="1188720" cy="18703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0" y="3566160"/>
            <a:ext cx="1005840" cy="187036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000" b="0">
                <a:solidFill>
                  <a:srgbClr val="DCDCDC"/>
                </a:solidFill>
                <a:latin typeface="Segoe UI"/>
              </a:defRPr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35040" y="3427884"/>
            <a:ext cx="118872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BA3E8"/>
                </a:solidFill>
                <a:latin typeface="Segoe UI"/>
              </a:defRPr>
            </a:pPr>
            <a:r>
              <a:rPr sz="900" dirty="0" err="1"/>
              <a:t>USASpending.gov</a:t>
            </a:r>
            <a:endParaRPr sz="900" dirty="0"/>
          </a:p>
        </p:txBody>
      </p:sp>
      <p:sp>
        <p:nvSpPr>
          <p:cNvPr id="48" name="Rectangle 47"/>
          <p:cNvSpPr/>
          <p:nvPr/>
        </p:nvSpPr>
        <p:spPr>
          <a:xfrm>
            <a:off x="4754880" y="4023360"/>
            <a:ext cx="4023360" cy="64008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46320" y="4114800"/>
            <a:ext cx="38404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sz="1100" dirty="0"/>
              <a:t>All three datasets were merged into a unified relational structure indexed by service code, enabling cross-dataset filtering in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Visual Analysis — Sector Density &amp; Company 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Which sectors hold the most SGC target companies, and how does national vs local presence compare?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FIG 1 — COMPANY COUNT BY SECTOR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999031"/>
              </p:ext>
            </p:extLst>
          </p:nvPr>
        </p:nvGraphicFramePr>
        <p:xfrm>
          <a:off x="365760" y="1554480"/>
          <a:ext cx="3998422" cy="2674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176469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Segoe UI"/>
              </a:defRPr>
            </a:pPr>
            <a:r>
              <a:rPr sz="900" dirty="0"/>
              <a:t>Finding: Finance &amp; Insurance leads with 27 companies; Technology &amp; Engineering (24) and Healthcare (21) follow as top SGC opportunity sectors.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FIG 2 — NATIONAL VS LOCAL PRESENCE BY INDUSTRY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067099"/>
              </p:ext>
            </p:extLst>
          </p:nvPr>
        </p:nvGraphicFramePr>
        <p:xfrm>
          <a:off x="4663440" y="1554480"/>
          <a:ext cx="4114800" cy="2766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846320" y="4183380"/>
            <a:ext cx="4181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Segoe UI"/>
              </a:defRPr>
            </a:pPr>
            <a:r>
              <a:rPr sz="900" dirty="0"/>
              <a:t>Finding: Finance &amp; Insurance and Healthcare combined account for 18 of 58 SGC priority targets, with strong national and local representation in both.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Visual Analysis — SDO Commitment &amp; Diversity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Distribution of supplier diversity commitments and which categories lead on CSR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114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rPr dirty="0"/>
              <a:t>FIG 3</a:t>
            </a:r>
            <a:r>
              <a:rPr lang="en-US" dirty="0"/>
              <a:t>: </a:t>
            </a:r>
            <a:r>
              <a:rPr dirty="0"/>
              <a:t>SDO COMMITMENT TIER DISTRIBUTION (1,234 VENDORS)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284274"/>
              </p:ext>
            </p:extLst>
          </p:nvPr>
        </p:nvGraphicFramePr>
        <p:xfrm>
          <a:off x="365760" y="1554480"/>
          <a:ext cx="4114800" cy="2674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297680"/>
            <a:ext cx="38125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Segoe UI"/>
              </a:defRPr>
            </a:pPr>
            <a:r>
              <a:rPr sz="900" dirty="0"/>
              <a:t>Finding: 54.8% of vendors commit less than 5% SDO, indicating significant room for SGC to champion diversity-first vendor selection in contract pitches.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280160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rPr dirty="0"/>
              <a:t>FIG 4</a:t>
            </a:r>
            <a:r>
              <a:rPr lang="en-US" dirty="0"/>
              <a:t>:</a:t>
            </a:r>
            <a:r>
              <a:rPr dirty="0"/>
              <a:t> AVERAGE SDO % BY SERVICE CATEGORY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663440" y="155448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663440" y="438912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Segoe UI"/>
              </a:defRPr>
            </a:pPr>
            <a:r>
              <a:rPr sz="800" dirty="0"/>
              <a:t>Finding: Facilities (17.9%) and Staffing (13.2%) lead in diversity commitment</a:t>
            </a:r>
            <a:r>
              <a:rPr lang="en-US" sz="800" dirty="0"/>
              <a:t>,</a:t>
            </a:r>
            <a:r>
              <a:rPr sz="800" dirty="0"/>
              <a:t> ideal segments for SGC's CSR-aligned contract pitches to government and non-profit clients.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Visual Analysis — Massachusetts Federal Spending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Where federal contract dollars flow in Massachusetts — mapping SGC's highest-value bidding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FIG 5 — TOP 10 NAICS SECTORS BY FEDERAL OBLIGATIONS IN MASSACHUSETTS (SOURCE: USASPENDING.GOV)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554480"/>
          <a:ext cx="84124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4114800"/>
            <a:ext cx="2743200" cy="640080"/>
          </a:xfrm>
          <a:prstGeom prst="rect">
            <a:avLst/>
          </a:prstGeom>
          <a:solidFill>
            <a:srgbClr val="E8F0F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25603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1250" b="0">
                <a:solidFill>
                  <a:srgbClr val="1A1A2E"/>
                </a:solidFill>
                <a:latin typeface="Segoe UI"/>
              </a:defRPr>
            </a:pPr>
            <a:r>
              <a:rPr sz="1000" dirty="0"/>
              <a:t>Facilities Support ($19.5B)</a:t>
            </a:r>
            <a:r>
              <a:rPr lang="en-US" sz="1000" dirty="0"/>
              <a:t>, </a:t>
            </a:r>
            <a:r>
              <a:rPr sz="1000" dirty="0"/>
              <a:t> SGC's facilities vendor network directly maps to the single largest federal obligation category in 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114800"/>
            <a:ext cx="2743200" cy="640080"/>
          </a:xfrm>
          <a:prstGeom prst="rect">
            <a:avLst/>
          </a:prstGeom>
          <a:solidFill>
            <a:srgbClr val="E8F0F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4206240"/>
            <a:ext cx="25603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1250" b="0">
                <a:solidFill>
                  <a:srgbClr val="1A1A2E"/>
                </a:solidFill>
                <a:latin typeface="Segoe UI"/>
              </a:defRPr>
            </a:pPr>
            <a:r>
              <a:rPr sz="1000" dirty="0"/>
              <a:t>R&amp;D &amp; Engineering ($20.9B combined) Professional services consulting is a natural SGC entry point into these high-spend categories.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114800"/>
            <a:ext cx="2743200" cy="640080"/>
          </a:xfrm>
          <a:prstGeom prst="rect">
            <a:avLst/>
          </a:prstGeom>
          <a:solidFill>
            <a:srgbClr val="E8F0F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4206240"/>
            <a:ext cx="25603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1250" b="0">
                <a:solidFill>
                  <a:srgbClr val="1A1A2E"/>
                </a:solidFill>
                <a:latin typeface="Segoe UI"/>
              </a:defRPr>
            </a:pPr>
            <a:r>
              <a:rPr sz="1000" dirty="0"/>
              <a:t>Healthcare &amp; Pharma ($16.4B combined) </a:t>
            </a:r>
            <a:r>
              <a:rPr lang="en-US" sz="1000" dirty="0"/>
              <a:t>, </a:t>
            </a:r>
            <a:r>
              <a:rPr sz="1000" dirty="0"/>
              <a:t>Aligns with SGC's 9 Healthcare/Biotech target accounts and HHS as the top awarding agency.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Insights &amp; Strategic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t>Data-driven takeaways that directly inform SGC's business development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137160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371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Finance &amp; Healthcare dominate SGC's target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28800"/>
            <a:ext cx="3657600" cy="54864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Finance &amp; Insurance (27 companies, 9 targets) and Healthcare &amp; Biotech (21 companies, 9 targets) represent the highest-density opportunity sectors for immediate outreach.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137160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417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371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Facilities is the strongest SDO performer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668780"/>
            <a:ext cx="3657600" cy="6629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With an average SDO of 17.9% and Sustainable Facilities averaging 35.3%, this category offers SGC the most compelling diversity narrative for CSR-conscious clients.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246888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54.8% of vendors fall below 5% SDO commitment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926080"/>
            <a:ext cx="3703320" cy="5715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A significant diversity gap exists across the vendor pool</a:t>
            </a:r>
            <a:r>
              <a:rPr lang="en-US" dirty="0"/>
              <a:t>,</a:t>
            </a:r>
            <a:r>
              <a:rPr dirty="0"/>
              <a:t> SGC can position itself as a diversity-forward partner to address this gap in client supply chains.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246888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 federal spend signals high-value contract verticals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926080"/>
            <a:ext cx="3657600" cy="59436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Facilities Support ($19.5B), Building Construction ($17.9B), and Aircraft Manufacturing ($12.9B) are the top NAICS categories</a:t>
            </a:r>
            <a:r>
              <a:rPr lang="en-US" dirty="0"/>
              <a:t>, </a:t>
            </a:r>
            <a:r>
              <a:rPr dirty="0"/>
              <a:t>all serviceable through SGC's current vendor network.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" y="356616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HHS &amp; SSA represent 77.7% of top agency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000500"/>
            <a:ext cx="3703320" cy="5715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Healthcare-adjacent and social services consulting is the dominant federal investment category in MA</a:t>
            </a:r>
            <a:r>
              <a:rPr lang="en-US" dirty="0"/>
              <a:t>,</a:t>
            </a:r>
            <a:r>
              <a:rPr dirty="0"/>
              <a:t> a direct strategic priority for SGC's government contract bidding.</a:t>
            </a:r>
          </a:p>
        </p:txBody>
      </p:sp>
      <p:sp>
        <p:nvSpPr>
          <p:cNvPr id="30" name="Oval 29"/>
          <p:cNvSpPr/>
          <p:nvPr/>
        </p:nvSpPr>
        <p:spPr>
          <a:xfrm>
            <a:off x="4663440" y="3566160"/>
            <a:ext cx="365760" cy="3657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566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IT sector holds highest-SDO individual vendors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4046220"/>
            <a:ext cx="3611880" cy="5257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NEWCOM Wireless (51%), Digit Outsource (46%), and CenturyLink (36%) are standout diversity-committed IT vendors SGC should prioritize in tech contract proposals.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1610"/>
            <a:ext cx="9144000" cy="496189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-1" y="0"/>
            <a:ext cx="9143999" cy="1097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Segoe UI"/>
              </a:defRPr>
            </a:pPr>
            <a: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DCDC"/>
                </a:solidFill>
                <a:latin typeface="Segoe UI"/>
              </a:defRPr>
            </a:pPr>
            <a:r>
              <a:rPr dirty="0"/>
              <a:t>What SGC should do next with the Growth Intelligence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5080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8234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SGC Growth Intelligence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234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Northeastern University · ALY6980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rPr dirty="0"/>
              <a:t>STRATEGIC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45920"/>
            <a:ext cx="365760" cy="36576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45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Prioritize Finance &amp; Healthcare outreach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74520"/>
            <a:ext cx="3474720" cy="50292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Activate the 18 combined SGC targets across these two sectors immediately using the vendor contact funnel.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423160"/>
            <a:ext cx="365760" cy="365760"/>
          </a:xfrm>
          <a:prstGeom prst="round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468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Leverage SDO data in contract pitches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51760"/>
            <a:ext cx="3474720" cy="50292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Use Facilities and Staffing SDO leaders as proof points when pitching CSR-aligned contracts to clients.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00400"/>
            <a:ext cx="365760" cy="365760"/>
          </a:xfrm>
          <a:prstGeom prst="round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Target HHS &amp; SSA-funded contracts in 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3474720" cy="50292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t>With $26.9B combined obligations, healthcare and social services federal contracts are SGC's highest-value bidding opportunity.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77640"/>
            <a:ext cx="365760" cy="365760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23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77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Expand vendor SDO data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06240"/>
            <a:ext cx="3474720" cy="50292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387 vendors currently lack SDO data</a:t>
            </a:r>
            <a:r>
              <a:rPr lang="en-US" dirty="0"/>
              <a:t>,</a:t>
            </a:r>
            <a:r>
              <a:rPr dirty="0"/>
              <a:t> enriching these records will strengthen SGC's diversity reporting and vendor selection process.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645920"/>
            <a:ext cx="4114800" cy="91440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1691640"/>
            <a:ext cx="4309110" cy="777240"/>
          </a:xfrm>
          <a:prstGeom prst="rect">
            <a:avLst/>
          </a:prstGeom>
          <a:noFill/>
        </p:spPr>
        <p:txBody>
          <a:bodyPr wrap="square" anchor="ctr">
            <a:normAutofit fontScale="85000" lnSpcReduction="20000"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dirty="0"/>
              <a:t>The SGC Growth Intelligence Toolkit successfully transforms thousands of unstructured company and vendor records into a five-tab interactive dashboard that answers SGC's three core business questions on market density, vendor optimization, and diversity compliance.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651760"/>
            <a:ext cx="4114800" cy="822960"/>
          </a:xfrm>
          <a:prstGeom prst="rect">
            <a:avLst/>
          </a:prstGeom>
          <a:solidFill>
            <a:srgbClr val="182D4B"/>
          </a:solidFill>
          <a:ln w="508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0" y="2743200"/>
            <a:ext cx="4114800" cy="640080"/>
          </a:xfrm>
          <a:prstGeom prst="rect">
            <a:avLst/>
          </a:prstGeom>
          <a:noFill/>
        </p:spPr>
        <p:txBody>
          <a:bodyPr wrap="square" anchor="ctr">
            <a:normAutofit fontScale="85000" lnSpcReduction="20000"/>
          </a:bodyPr>
          <a:lstStyle/>
          <a:p>
            <a:pPr>
              <a:defRPr sz="1250" b="0">
                <a:solidFill>
                  <a:srgbClr val="C8D6E8"/>
                </a:solidFill>
                <a:latin typeface="Segoe UI"/>
              </a:defRPr>
            </a:pPr>
            <a:r>
              <a:rPr dirty="0"/>
              <a:t>By integrating Massachusetts federal spending data from </a:t>
            </a:r>
            <a:r>
              <a:rPr dirty="0" err="1"/>
              <a:t>USASpending.gov</a:t>
            </a:r>
            <a:r>
              <a:rPr dirty="0"/>
              <a:t>, the toolkit goes beyond internal data to position SGC with a real-world contract bidding strategy grounded in $100B+ of publicly tracked federal obligations.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5FA5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938270"/>
            <a:ext cx="4067810" cy="77089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• Deploy dashboard to SGC leadership team for live use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• Refresh vendor and company data quarterly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• Integrate Tableau/</a:t>
            </a:r>
            <a:r>
              <a:rPr dirty="0" err="1"/>
              <a:t>PowerBI</a:t>
            </a:r>
            <a:r>
              <a:rPr dirty="0"/>
              <a:t> version for enterprise-scale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5FA5"/>
                </a:solidFill>
                <a:latin typeface="Segoe UI"/>
              </a:defRPr>
            </a:pPr>
            <a:r>
              <a:t>NORTHEASTERN UNIVERSITY · ALY6980 · WINTER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FA3B1"/>
                </a:solidFill>
                <a:latin typeface="Segoe UI"/>
              </a:defRPr>
            </a:pPr>
            <a:r>
              <a:t>We welcome any questions from SGC leadership and our faculty reviewers.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377440"/>
            <a:ext cx="6400800" cy="2011680"/>
          </a:xfrm>
          <a:prstGeom prst="roundRect">
            <a:avLst/>
          </a:prstGeom>
          <a:solidFill>
            <a:srgbClr val="142337"/>
          </a:solidFill>
          <a:ln w="190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85FA5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585216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USASpending.gov</a:t>
            </a:r>
            <a:r>
              <a:rPr dirty="0"/>
              <a:t> </a:t>
            </a:r>
            <a:r>
              <a:rPr lang="en-US" dirty="0"/>
              <a:t>: </a:t>
            </a:r>
            <a:r>
              <a:rPr dirty="0"/>
              <a:t>Federal Contract &amp; Grant Obligations, Massachusetts, 2024</a:t>
            </a:r>
          </a:p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• Commonwealth of Massachusetts </a:t>
            </a:r>
            <a:r>
              <a:rPr lang="en-US" dirty="0"/>
              <a:t>:  </a:t>
            </a:r>
            <a:r>
              <a:rPr dirty="0"/>
              <a:t>Statewide Contracts Vendor Database (</a:t>
            </a:r>
            <a:r>
              <a:rPr dirty="0" err="1"/>
              <a:t>mass.gov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• SGC Internal Dataset </a:t>
            </a:r>
            <a:r>
              <a:rPr lang="en-US" dirty="0"/>
              <a:t>: </a:t>
            </a:r>
            <a:r>
              <a:rPr dirty="0"/>
              <a:t>Categorized Companies &amp; Vendor Contact Details, Winter 2026</a:t>
            </a:r>
          </a:p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• NAICS Association </a:t>
            </a:r>
            <a:r>
              <a:rPr lang="en-US" dirty="0"/>
              <a:t>: </a:t>
            </a:r>
            <a:r>
              <a:rPr dirty="0"/>
              <a:t> North American Industry Classification System Codes, 2024</a:t>
            </a:r>
          </a:p>
          <a:p>
            <a:pPr>
              <a:spcAft>
                <a:spcPts val="400"/>
              </a:spcAft>
              <a:defRPr sz="1100" b="0">
                <a:solidFill>
                  <a:srgbClr val="8FA3B1"/>
                </a:solidFill>
                <a:latin typeface="Segoe UI"/>
              </a:defRPr>
            </a:pPr>
            <a:r>
              <a:rPr dirty="0"/>
              <a:t>• Northeastern University CPS </a:t>
            </a:r>
            <a:r>
              <a:rPr lang="en-US" dirty="0"/>
              <a:t>: </a:t>
            </a:r>
            <a:r>
              <a:rPr dirty="0"/>
              <a:t> ALY6980 Capstone Project Guidelines, Winter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1575</Words>
  <Application>Microsoft Office PowerPoint</Application>
  <PresentationFormat>On-screen Show (16:9)</PresentationFormat>
  <Paragraphs>184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Sumesh Purushothaman</cp:lastModifiedBy>
  <cp:revision>87</cp:revision>
  <dcterms:created xsi:type="dcterms:W3CDTF">2013-01-27T09:14:16Z</dcterms:created>
  <dcterms:modified xsi:type="dcterms:W3CDTF">2026-03-19T23:45:28Z</dcterms:modified>
  <cp:category/>
</cp:coreProperties>
</file>