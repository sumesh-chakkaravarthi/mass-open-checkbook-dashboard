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85FA5"/>
            </a:solidFill>
          </c:spPr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F6E56"/>
            </a:solidFill>
          </c:spPr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1">
                  <c:v>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rgbClr val="3266AD"/>
            </a:solidFill>
          </c:spPr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2">
                  <c:v>27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S3</c:v>
                </c:pt>
              </c:strCache>
            </c:strRef>
          </c:tx>
          <c:spPr>
            <a:solidFill>
              <a:srgbClr val="BA7517"/>
            </a:solidFill>
          </c:spPr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3">
                  <c:v>15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S4</c:v>
                </c:pt>
              </c:strCache>
            </c:strRef>
          </c:tx>
          <c:spPr>
            <a:solidFill>
              <a:srgbClr val="534AB7"/>
            </a:solidFill>
          </c:spPr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4">
                  <c:v>20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S5</c:v>
                </c:pt>
              </c:strCache>
            </c:strRef>
          </c:tx>
          <c:spPr>
            <a:solidFill>
              <a:srgbClr val="639922"/>
            </a:solidFill>
          </c:spPr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5">
                  <c:v>11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S6</c:v>
                </c:pt>
              </c:strCache>
            </c:strRef>
          </c:tx>
          <c:spPr>
            <a:solidFill>
              <a:srgbClr val="993C1D"/>
            </a:solidFill>
          </c:spPr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Sheet1!$H$2:$H$11</c:f>
              <c:numCache>
                <c:formatCode>General</c:formatCode>
                <c:ptCount val="10"/>
                <c:pt idx="6">
                  <c:v>24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S7</c:v>
                </c:pt>
              </c:strCache>
            </c:strRef>
          </c:tx>
          <c:spPr>
            <a:solidFill>
              <a:srgbClr val="888780"/>
            </a:solidFill>
          </c:spPr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Sheet1!$I$2:$I$11</c:f>
              <c:numCache>
                <c:formatCode>General</c:formatCode>
                <c:ptCount val="10"/>
                <c:pt idx="7">
                  <c:v>4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S8</c:v>
                </c:pt>
              </c:strCache>
            </c:strRef>
          </c:tx>
          <c:spPr>
            <a:solidFill>
              <a:srgbClr val="D4537E"/>
            </a:solidFill>
          </c:spPr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Sheet1!$J$2:$J$11</c:f>
              <c:numCache>
                <c:formatCode>General</c:formatCode>
                <c:ptCount val="10"/>
                <c:pt idx="8">
                  <c:v>5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S9</c:v>
                </c:pt>
              </c:strCache>
            </c:strRef>
          </c:tx>
          <c:spPr>
            <a:solidFill>
              <a:srgbClr val="1D9E75"/>
            </a:solidFill>
          </c:spPr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Sheet1!$K$2:$K$11</c:f>
              <c:numCache>
                <c:formatCode>General</c:formatCode>
                <c:ptCount val="10"/>
                <c:pt idx="9">
                  <c:v>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National &amp; Local</c:v>
                </c:pt>
              </c:strCache>
            </c:strRef>
          </c:tx>
          <c:spPr>
            <a:solidFill>
              <a:srgbClr val="00BCD4"/>
            </a:solidFill>
          </c:spPr>
          <c:cat>
            <c:strRef>
              <c:f>Sheet1!$A$2:$A$11</c:f>
              <c:strCache>
                <c:ptCount val="10"/>
                <c:pt idx="0">
                  <c:v>Hospitality</c:v>
                </c:pt>
                <c:pt idx="1">
                  <c:v>Publishing</c:v>
                </c:pt>
                <c:pt idx="2">
                  <c:v>Misc</c:v>
                </c:pt>
                <c:pt idx="3">
                  <c:v>Construction</c:v>
                </c:pt>
                <c:pt idx="4">
                  <c:v>Education</c:v>
                </c:pt>
                <c:pt idx="5">
                  <c:v>Gov &amp; NP</c:v>
                </c:pt>
                <c:pt idx="6">
                  <c:v>Energy</c:v>
                </c:pt>
                <c:pt idx="7">
                  <c:v>Healthcare</c:v>
                </c:pt>
                <c:pt idx="8">
                  <c:v>Tech</c:v>
                </c:pt>
                <c:pt idx="9">
                  <c:v>Finance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11</c:v>
                </c:pt>
                <c:pt idx="4">
                  <c:v>13</c:v>
                </c:pt>
                <c:pt idx="5">
                  <c:v>25</c:v>
                </c:pt>
                <c:pt idx="6">
                  <c:v>20</c:v>
                </c:pt>
                <c:pt idx="7">
                  <c:v>21</c:v>
                </c:pt>
                <c:pt idx="8">
                  <c:v>25</c:v>
                </c:pt>
                <c:pt idx="9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Local Only</c:v>
                </c:pt>
              </c:strCache>
            </c:strRef>
          </c:tx>
          <c:spPr>
            <a:solidFill>
              <a:srgbClr val="7C4DFF"/>
            </a:solidFill>
          </c:spPr>
          <c:cat>
            <c:strRef>
              <c:f>Sheet1!$A$2:$A$11</c:f>
              <c:strCache>
                <c:ptCount val="10"/>
                <c:pt idx="0">
                  <c:v>Hospitality</c:v>
                </c:pt>
                <c:pt idx="1">
                  <c:v>Publishing</c:v>
                </c:pt>
                <c:pt idx="2">
                  <c:v>Misc</c:v>
                </c:pt>
                <c:pt idx="3">
                  <c:v>Construction</c:v>
                </c:pt>
                <c:pt idx="4">
                  <c:v>Education</c:v>
                </c:pt>
                <c:pt idx="5">
                  <c:v>Gov &amp; NP</c:v>
                </c:pt>
                <c:pt idx="6">
                  <c:v>Energy</c:v>
                </c:pt>
                <c:pt idx="7">
                  <c:v>Healthcare</c:v>
                </c:pt>
                <c:pt idx="8">
                  <c:v>Tech</c:v>
                </c:pt>
                <c:pt idx="9">
                  <c:v>Finance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7</c:v>
                </c:pt>
                <c:pt idx="5">
                  <c:v>5</c:v>
                </c:pt>
                <c:pt idx="6">
                  <c:v>9</c:v>
                </c:pt>
                <c:pt idx="7">
                  <c:v>20</c:v>
                </c:pt>
                <c:pt idx="8">
                  <c:v>4</c:v>
                </c:pt>
                <c:pt idx="9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SGC Target</c:v>
                </c:pt>
              </c:strCache>
            </c:strRef>
          </c:tx>
          <c:spPr>
            <a:solidFill>
              <a:srgbClr val="FF7043"/>
            </a:solidFill>
          </c:spPr>
          <c:cat>
            <c:strRef>
              <c:f>Sheet1!$A$2:$A$11</c:f>
              <c:strCache>
                <c:ptCount val="10"/>
                <c:pt idx="0">
                  <c:v>Hospitality</c:v>
                </c:pt>
                <c:pt idx="1">
                  <c:v>Publishing</c:v>
                </c:pt>
                <c:pt idx="2">
                  <c:v>Misc</c:v>
                </c:pt>
                <c:pt idx="3">
                  <c:v>Construction</c:v>
                </c:pt>
                <c:pt idx="4">
                  <c:v>Education</c:v>
                </c:pt>
                <c:pt idx="5">
                  <c:v>Gov &amp; NP</c:v>
                </c:pt>
                <c:pt idx="6">
                  <c:v>Energy</c:v>
                </c:pt>
                <c:pt idx="7">
                  <c:v>Healthcare</c:v>
                </c:pt>
                <c:pt idx="8">
                  <c:v>Tech</c:v>
                </c:pt>
                <c:pt idx="9">
                  <c:v>Finance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5</c:v>
                </c:pt>
                <c:pt idx="4">
                  <c:v>9</c:v>
                </c:pt>
                <c:pt idx="5">
                  <c:v>3</c:v>
                </c:pt>
                <c:pt idx="6">
                  <c:v>8</c:v>
                </c:pt>
                <c:pt idx="7">
                  <c:v>9</c:v>
                </c:pt>
                <c:pt idx="8">
                  <c:v>9</c:v>
                </c:pt>
                <c:pt idx="9">
                  <c:v>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Vendors</c:v>
                </c:pt>
              </c:strCache>
            </c:strRef>
          </c:tx>
          <c:dPt>
            <c:idx val="0"/>
            <c:spPr>
              <a:solidFill>
                <a:srgbClr val="B5D4F4"/>
              </a:solidFill>
            </c:spPr>
          </c:dPt>
          <c:dPt>
            <c:idx val="1"/>
            <c:spPr>
              <a:solidFill>
                <a:srgbClr val="378ADD"/>
              </a:solidFill>
            </c:spPr>
          </c:dPt>
          <c:dPt>
            <c:idx val="2"/>
            <c:spPr>
              <a:solidFill>
                <a:srgbClr val="185FA5"/>
              </a:solidFill>
            </c:spPr>
          </c:dPt>
          <c:dPt>
            <c:idx val="3"/>
            <c:spPr>
              <a:solidFill>
                <a:srgbClr val="0C447C"/>
              </a:solidFill>
            </c:spPr>
          </c:dPt>
          <c:dPt>
            <c:idx val="4"/>
            <c:spPr>
              <a:solidFill>
                <a:srgbClr val="042C53"/>
              </a:solidFill>
            </c:spPr>
          </c:dPt>
          <c:cat>
            <c:strRef>
              <c:f>Sheet1!$A$2:$A$6</c:f>
              <c:strCache>
                <c:ptCount val="5"/>
                <c:pt idx="0">
                  <c:v>0–5%</c:v>
                </c:pt>
                <c:pt idx="1">
                  <c:v>5–10%</c:v>
                </c:pt>
                <c:pt idx="2">
                  <c:v>10–20%</c:v>
                </c:pt>
                <c:pt idx="3">
                  <c:v>20–50%</c:v>
                </c:pt>
                <c:pt idx="4">
                  <c:v>50%+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676</c:v>
                </c:pt>
                <c:pt idx="1">
                  <c:v>251</c:v>
                </c:pt>
                <c:pt idx="2">
                  <c:v>224</c:v>
                </c:pt>
                <c:pt idx="3">
                  <c:v>55</c:v>
                </c:pt>
                <c:pt idx="4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1A1A2E"/>
              </a:solidFill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378ADD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185FA5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1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rgbClr val="378ADD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2">
                  <c:v>5.1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S3</c:v>
                </c:pt>
              </c:strCache>
            </c:strRef>
          </c:tx>
          <c:spPr>
            <a:solidFill>
              <a:srgbClr val="042C53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3">
                  <c:v>17.9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S4</c:v>
                </c:pt>
              </c:strCache>
            </c:strRef>
          </c:tx>
          <c:spPr>
            <a:solidFill>
              <a:srgbClr val="B5D4F4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4">
                  <c:v>3.1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S5</c:v>
                </c:pt>
              </c:strCache>
            </c:strRef>
          </c:tx>
          <c:spPr>
            <a:solidFill>
              <a:srgbClr val="B5D4F4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Sheet1!$G$2:$G$15</c:f>
              <c:numCache>
                <c:formatCode>General</c:formatCode>
                <c:ptCount val="14"/>
                <c:pt idx="5">
                  <c:v>2.7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S6</c:v>
                </c:pt>
              </c:strCache>
            </c:strRef>
          </c:tx>
          <c:spPr>
            <a:solidFill>
              <a:srgbClr val="B5D4F4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Sheet1!$H$2:$H$15</c:f>
              <c:numCache>
                <c:formatCode>General</c:formatCode>
                <c:ptCount val="14"/>
                <c:pt idx="6">
                  <c:v>3.7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S7</c:v>
                </c:pt>
              </c:strCache>
            </c:strRef>
          </c:tx>
          <c:spPr>
            <a:solidFill>
              <a:srgbClr val="B5D4F4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Sheet1!$I$2:$I$15</c:f>
              <c:numCache>
                <c:formatCode>General</c:formatCode>
                <c:ptCount val="14"/>
                <c:pt idx="7">
                  <c:v>2.7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S8</c:v>
                </c:pt>
              </c:strCache>
            </c:strRef>
          </c:tx>
          <c:spPr>
            <a:solidFill>
              <a:srgbClr val="B5D4F4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Sheet1!$J$2:$J$15</c:f>
              <c:numCache>
                <c:formatCode>General</c:formatCode>
                <c:ptCount val="14"/>
                <c:pt idx="8">
                  <c:v>4.8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S9</c:v>
                </c:pt>
              </c:strCache>
            </c:strRef>
          </c:tx>
          <c:spPr>
            <a:solidFill>
              <a:srgbClr val="B5D4F4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Sheet1!$K$2:$K$15</c:f>
              <c:numCache>
                <c:formatCode>General</c:formatCode>
                <c:ptCount val="14"/>
                <c:pt idx="9">
                  <c:v>4.6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S10</c:v>
                </c:pt>
              </c:strCache>
            </c:strRef>
          </c:tx>
          <c:spPr>
            <a:solidFill>
              <a:srgbClr val="378ADD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Sheet1!$L$2:$L$15</c:f>
              <c:numCache>
                <c:formatCode>General</c:formatCode>
                <c:ptCount val="14"/>
                <c:pt idx="10">
                  <c:v>7.3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S11</c:v>
                </c:pt>
              </c:strCache>
            </c:strRef>
          </c:tx>
          <c:spPr>
            <a:solidFill>
              <a:srgbClr val="B5D4F4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Sheet1!$M$2:$M$15</c:f>
              <c:numCache>
                <c:formatCode>General</c:formatCode>
                <c:ptCount val="14"/>
                <c:pt idx="11">
                  <c:v>4.1</c:v>
                </c:pt>
              </c:numCache>
            </c:numRef>
          </c:val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S12</c:v>
                </c:pt>
              </c:strCache>
            </c:strRef>
          </c:tx>
          <c:spPr>
            <a:solidFill>
              <a:srgbClr val="185FA5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Sheet1!$N$2:$N$15</c:f>
              <c:numCache>
                <c:formatCode>General</c:formatCode>
                <c:ptCount val="14"/>
                <c:pt idx="12">
                  <c:v>13.2</c:v>
                </c:pt>
              </c:numCache>
            </c:numRef>
          </c:val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S13</c:v>
                </c:pt>
              </c:strCache>
            </c:strRef>
          </c:tx>
          <c:spPr>
            <a:solidFill>
              <a:srgbClr val="B5D4F4"/>
            </a:solidFill>
          </c:spPr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Sheet1!$O$2:$O$15</c:f>
              <c:numCache>
                <c:formatCode>General</c:formatCode>
                <c:ptCount val="14"/>
                <c:pt idx="13">
                  <c:v>4.7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D4537E"/>
            </a:solidFill>
          </c:spPr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888780"/>
            </a:solidFill>
          </c:spPr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1">
                  <c:v>5.31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rgbClr val="993C1D"/>
            </a:solidFill>
          </c:spPr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2">
                  <c:v>7.02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S3</c:v>
                </c:pt>
              </c:strCache>
            </c:strRef>
          </c:tx>
          <c:spPr>
            <a:solidFill>
              <a:srgbClr val="3266AD"/>
            </a:solidFill>
          </c:spPr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3">
                  <c:v>7.58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S4</c:v>
                </c:pt>
              </c:strCache>
            </c:strRef>
          </c:tx>
          <c:spPr>
            <a:solidFill>
              <a:srgbClr val="639922"/>
            </a:solidFill>
          </c:spPr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4">
                  <c:v>7.68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S5</c:v>
                </c:pt>
              </c:strCache>
            </c:strRef>
          </c:tx>
          <c:spPr>
            <a:solidFill>
              <a:srgbClr val="1D9E75"/>
            </a:solidFill>
          </c:spPr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5">
                  <c:v>8.3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S6</c:v>
                </c:pt>
              </c:strCache>
            </c:strRef>
          </c:tx>
          <c:spPr>
            <a:solidFill>
              <a:srgbClr val="BA7517"/>
            </a:solidFill>
          </c:spPr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Sheet1!$H$2:$H$11</c:f>
              <c:numCache>
                <c:formatCode>General</c:formatCode>
                <c:ptCount val="10"/>
                <c:pt idx="6">
                  <c:v>11.05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S7</c:v>
                </c:pt>
              </c:strCache>
            </c:strRef>
          </c:tx>
          <c:spPr>
            <a:solidFill>
              <a:srgbClr val="534AB7"/>
            </a:solidFill>
          </c:spPr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Sheet1!$I$2:$I$11</c:f>
              <c:numCache>
                <c:formatCode>General</c:formatCode>
                <c:ptCount val="10"/>
                <c:pt idx="7">
                  <c:v>12.93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S8</c:v>
                </c:pt>
              </c:strCache>
            </c:strRef>
          </c:tx>
          <c:spPr>
            <a:solidFill>
              <a:srgbClr val="0F6E56"/>
            </a:solidFill>
          </c:spPr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Sheet1!$J$2:$J$11</c:f>
              <c:numCache>
                <c:formatCode>General</c:formatCode>
                <c:ptCount val="10"/>
                <c:pt idx="8">
                  <c:v>17.92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S9</c:v>
                </c:pt>
              </c:strCache>
            </c:strRef>
          </c:tx>
          <c:spPr>
            <a:solidFill>
              <a:srgbClr val="185FA5"/>
            </a:solidFill>
          </c:spPr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Sheet1!$K$2:$K$11</c:f>
              <c:numCache>
                <c:formatCode>General</c:formatCode>
                <c:ptCount val="10"/>
                <c:pt idx="9">
                  <c:v>19.55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914400" cy="91440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005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5FA5"/>
                </a:solidFill>
                <a:latin typeface="Segoe UI"/>
              </a:defRPr>
            </a:pPr>
            <a:r>
              <a:t>ALY6980 · CAPSTONE PROJECT · WINTER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SGC Growth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85FA5"/>
                </a:solidFill>
                <a:latin typeface="Segoe UI"/>
              </a:defRPr>
            </a:pPr>
            <a:r>
              <a:t>Toolkit &amp;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5486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8FA3B1"/>
                </a:solidFill>
                <a:latin typeface="Segoe UI"/>
              </a:defRPr>
            </a:pPr>
            <a:r>
              <a:t>Transforming static vendor and company lists into an actionable Business Development Funnel for SGC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FA3B1"/>
                </a:solidFill>
                <a:latin typeface="Segoe UI"/>
              </a:defRPr>
            </a:pPr>
            <a:r>
              <a:t>INSTITUTION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Northeastern University CPS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14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FA3B1"/>
                </a:solidFill>
                <a:latin typeface="Segoe UI"/>
              </a:defRPr>
            </a:pPr>
            <a:r>
              <a:t>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ALY6980 Capstone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114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FA3B1"/>
                </a:solidFill>
                <a:latin typeface="Segoe UI"/>
              </a:defRPr>
            </a:pPr>
            <a:r>
              <a:t>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Winter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The challenge SGC faces without a data-driven engagement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solidFill>
            <a:srgbClr val="182D4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250" b="0">
                <a:solidFill>
                  <a:srgbClr val="C8D6E8"/>
                </a:solidFill>
                <a:latin typeface="Segoe UI"/>
              </a:defRPr>
            </a:pPr>
            <a:r>
              <a:t>SGC, a consulting firm seeking to bid on contracts across Massachusetts industries, currently relies on manual data lookup across thousands of vendor and company records — making strategic, resource-efficient decision-making nearly impossible.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CORE PAIN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566928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800"/>
              </a:spcAft>
              <a:defRPr sz="1300" b="0">
                <a:solidFill>
                  <a:srgbClr val="E0E6F0"/>
                </a:solidFill>
                <a:latin typeface="Segoe UI"/>
              </a:defRPr>
            </a:pPr>
            <a:r>
              <a:t>• No centralized view of which industry sectors hold the highest concentration of target companies for outreach</a:t>
            </a:r>
          </a:p>
          <a:p>
            <a:pPr>
              <a:spcAft>
                <a:spcPts val="800"/>
              </a:spcAft>
              <a:defRPr sz="1300" b="0">
                <a:solidFill>
                  <a:srgbClr val="E0E6F0"/>
                </a:solidFill>
                <a:latin typeface="Segoe UI"/>
              </a:defRPr>
            </a:pPr>
            <a:r>
              <a:t>• Vendor landscape is fragmented — medical, logistical, and professional providers tracked in separate static lists</a:t>
            </a:r>
          </a:p>
          <a:p>
            <a:pPr>
              <a:spcAft>
                <a:spcPts val="800"/>
              </a:spcAft>
              <a:defRPr sz="1300" b="0">
                <a:solidFill>
                  <a:srgbClr val="E0E6F0"/>
                </a:solidFill>
                <a:latin typeface="Segoe UI"/>
              </a:defRPr>
            </a:pPr>
            <a:r>
              <a:t>• SDO (Supplier Diversity &amp; Opportunity) compliance data is unstructured, limiting CSR reporting capabilities</a:t>
            </a:r>
          </a:p>
          <a:p>
            <a:pPr>
              <a:spcAft>
                <a:spcPts val="800"/>
              </a:spcAft>
              <a:defRPr sz="1300" b="0">
                <a:solidFill>
                  <a:srgbClr val="E0E6F0"/>
                </a:solidFill>
                <a:latin typeface="Segoe UI"/>
              </a:defRPr>
            </a:pPr>
            <a:r>
              <a:t>• No visibility into federal contract spending patterns in Massachusetts that signal where SGC should focus bids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2560320" cy="73152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2560320" cy="33250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1,621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92400"/>
            <a:ext cx="2377440" cy="33250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r>
              <a:t>Vendors across unstructured lists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2560320" cy="731520"/>
          </a:xfrm>
          <a:prstGeom prst="round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154680"/>
            <a:ext cx="2560320" cy="33250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15360"/>
            <a:ext cx="2377440" cy="33250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r>
              <a:t>Target companies with no unified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2560320" cy="731520"/>
          </a:xfrm>
          <a:prstGeom prst="round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977640"/>
            <a:ext cx="2560320" cy="33250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$19.5B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38320"/>
            <a:ext cx="2377440" cy="33250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r>
              <a:t>MA federal spend with no strategic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Three guiding questions that shaped our analytical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651760" cy="16459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t>01 — Market Density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2377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Which industry sectors (Healthcare, Tech, Finance) show the highest concentration of SGC Target companies for immediate consulting outreach?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371600"/>
            <a:ext cx="2651760" cy="16459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t>02 — Vendor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2377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How can we visualize the vendor landscape to ensure a balanced mix of medical, logistical (VEH), and professional (PRF) service providers?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2651760" cy="16459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t>03 — Compliance &amp; Diversity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737360"/>
            <a:ext cx="2377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What is the distribution of SDO Commitment Percentages across the vendor pool, and how does this impact SGC's CSR reporting?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HIGH-LEVEL 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8412480" cy="1097280"/>
          </a:xfrm>
          <a:prstGeom prst="rect">
            <a:avLst/>
          </a:prstGeom>
          <a:solidFill>
            <a:srgbClr val="182D4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250" b="0">
                <a:solidFill>
                  <a:srgbClr val="C8D6E8"/>
                </a:solidFill>
                <a:latin typeface="Segoe UI"/>
              </a:defRPr>
            </a:pPr>
            <a:r>
              <a:t>Deliver a functional, data-driven dashboard that transforms static lists of thousands of companies and vendor contacts into an actionable Business Development Funnel — enabling SGC leadership to move from manual data lookup to strategic, educated decision-making regarding resource allocation and partnership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Data Sources &amp; 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Primary datasets used to build the SGC Growth Intelligence Toolkit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4114800" cy="16459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t>Dataset 1 — Categorized Companies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384048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147 companies across 10 industry sectors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Sectors: Healthcare, Finance, Tech, Energy, Education &amp; more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Includes national, local, and SGC-targeted classifications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58 priority accounts flagged for immediate outreach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80160"/>
            <a:ext cx="4114800" cy="16459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t>Dataset 2 — Vendor Contact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645920"/>
            <a:ext cx="384048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1,621 vendors across 15 service categories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Service codes: MED, FAC, ITT, PRF, VEH &amp; more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Includes contact names, roles, emails, phone numbers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1,234 vendors with SDO commitment %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63240"/>
            <a:ext cx="4114800" cy="155448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54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t>Dataset 3 — USASpending.gov (Massachusetts)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38404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Federal contract &amp; grant obligations by NAICS code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Top 10 awarding agencies by spend in MA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HHS leads at $14.9B; Facilities Support tops NAICS at $19.5B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KEY DATASET STATS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38328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42900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754880" y="363728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663440" y="338328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147 Companies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338328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342900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760720" y="363728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5669280" y="338328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1,621 Vendors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38328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42900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766560" y="363728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675120" y="338328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10 Sectors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338328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342900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772400" y="363728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7680960" y="338328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15 Service Codes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0" y="393192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397764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4754880" y="418592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4663440" y="393192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58 SGC Targets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0" y="393192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397764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5760720" y="418592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5669280" y="393192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Federal MA Spend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393192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397764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6766560" y="418592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6675120" y="393192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SDO Percentage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0" y="393192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397764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7772400" y="418592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7680960" y="393192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Contact Directory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Methodology &amp;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How raw data was transformed into a strategic decision-making toolkit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PIPELINE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554480"/>
            <a:ext cx="1554480" cy="685800"/>
          </a:xfrm>
          <a:prstGeom prst="roundRect">
            <a:avLst/>
          </a:prstGeom>
          <a:solidFill>
            <a:srgbClr val="142D50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0020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C8D6E8"/>
                </a:solidFill>
                <a:latin typeface="Segoe UI"/>
              </a:defRPr>
            </a:pPr>
            <a:r>
              <a:t>Raw Data Sources</a:t>
            </a:r>
            <a:br/>
            <a:r>
              <a:t>(Cos/Vendors/USASpending)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6459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5FA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1554480"/>
            <a:ext cx="1554480" cy="685800"/>
          </a:xfrm>
          <a:prstGeom prst="roundRect">
            <a:avLst/>
          </a:prstGeom>
          <a:solidFill>
            <a:srgbClr val="142D50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160020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C8D6E8"/>
                </a:solidFill>
                <a:latin typeface="Segoe UI"/>
              </a:defRPr>
            </a:pPr>
            <a:r>
              <a:t>Data Cleaning</a:t>
            </a:r>
            <a:br/>
            <a:r>
              <a:t>(Deduplication)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6459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5FA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40" y="1554480"/>
            <a:ext cx="1554480" cy="685800"/>
          </a:xfrm>
          <a:prstGeom prst="roundRect">
            <a:avLst/>
          </a:prstGeom>
          <a:solidFill>
            <a:srgbClr val="142D50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60020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C8D6E8"/>
                </a:solidFill>
                <a:latin typeface="Segoe UI"/>
              </a:defRPr>
            </a:pPr>
            <a:r>
              <a:t>Data Merging</a:t>
            </a:r>
            <a:br/>
            <a:r>
              <a:t>(Indexed by Service Code)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6459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5FA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1554480"/>
            <a:ext cx="1554480" cy="685800"/>
          </a:xfrm>
          <a:prstGeom prst="roundRect">
            <a:avLst/>
          </a:prstGeom>
          <a:solidFill>
            <a:srgbClr val="142D50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160020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C8D6E8"/>
                </a:solidFill>
                <a:latin typeface="Segoe UI"/>
              </a:defRPr>
            </a:pPr>
            <a:r>
              <a:t>Analysis &amp; Viz</a:t>
            </a:r>
            <a:br/>
            <a:r>
              <a:t>(Chart.js/HTML)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6459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5FA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554480"/>
            <a:ext cx="1554480" cy="685800"/>
          </a:xfrm>
          <a:prstGeom prst="roundRect">
            <a:avLst/>
          </a:prstGeom>
          <a:solidFill>
            <a:srgbClr val="142D50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160020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C8D6E8"/>
                </a:solidFill>
                <a:latin typeface="Segoe UI"/>
              </a:defRPr>
            </a:pPr>
            <a:r>
              <a:t>Interactive Dashboard</a:t>
            </a:r>
            <a:br/>
            <a:r>
              <a:t>(5-Tab Deployment)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ANALYTICAL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743200"/>
            <a:ext cx="41148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800"/>
              </a:spcAft>
              <a:defRPr sz="1250" b="0">
                <a:solidFill>
                  <a:srgbClr val="C8D6E8"/>
                </a:solidFill>
                <a:latin typeface="Segoe UI"/>
              </a:defRPr>
            </a:pPr>
            <a:r>
              <a:t>• Sector density analysis — company count by industry with SGC target flagging</a:t>
            </a:r>
          </a:p>
          <a:p>
            <a:pPr>
              <a:spcAft>
                <a:spcPts val="800"/>
              </a:spcAft>
              <a:defRPr sz="1250" b="0">
                <a:solidFill>
                  <a:srgbClr val="C8D6E8"/>
                </a:solidFill>
                <a:latin typeface="Segoe UI"/>
              </a:defRPr>
            </a:pPr>
            <a:r>
              <a:t>• SDO tier segmentation — vendors bucketed into 5 diversity commitment levels</a:t>
            </a:r>
          </a:p>
          <a:p>
            <a:pPr>
              <a:spcAft>
                <a:spcPts val="800"/>
              </a:spcAft>
              <a:defRPr sz="1250" b="0">
                <a:solidFill>
                  <a:srgbClr val="C8D6E8"/>
                </a:solidFill>
                <a:latin typeface="Segoe UI"/>
              </a:defRPr>
            </a:pPr>
            <a:r>
              <a:t>• National vs local presence mapping across all 10 sectors</a:t>
            </a:r>
          </a:p>
          <a:p>
            <a:pPr>
              <a:spcAft>
                <a:spcPts val="800"/>
              </a:spcAft>
              <a:defRPr sz="1250" b="0">
                <a:solidFill>
                  <a:srgbClr val="C8D6E8"/>
                </a:solidFill>
                <a:latin typeface="Segoe UI"/>
              </a:defRPr>
            </a:pPr>
            <a:r>
              <a:t>• Federal spend alignment — NAICS obligations mapped to SGC service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TOOLS &amp; TECHNOLOGIES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2834640"/>
            <a:ext cx="1188720" cy="41148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880360"/>
            <a:ext cx="1188720" cy="18703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4846320" y="3063240"/>
            <a:ext cx="1005840" cy="1870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754880" y="283464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BA3E8"/>
                </a:solidFill>
                <a:latin typeface="Segoe UI"/>
              </a:defRPr>
            </a:pPr>
            <a:r>
              <a:t>Python/Pandas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2834640"/>
            <a:ext cx="1188720" cy="41148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2880360"/>
            <a:ext cx="1188720" cy="18703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126480" y="3063240"/>
            <a:ext cx="1005840" cy="1870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035040" y="283464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BA3E8"/>
                </a:solidFill>
                <a:latin typeface="Segoe UI"/>
              </a:defRPr>
            </a:pPr>
            <a:r>
              <a:t>Excel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2834640"/>
            <a:ext cx="1188720" cy="41148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2880360"/>
            <a:ext cx="1188720" cy="18703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7406640" y="3063240"/>
            <a:ext cx="1005840" cy="1870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7315200" y="283464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BA3E8"/>
                </a:solidFill>
                <a:latin typeface="Segoe UI"/>
              </a:defRPr>
            </a:pPr>
            <a:r>
              <a:t>Chart.js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3337560"/>
            <a:ext cx="1188720" cy="41148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3383280"/>
            <a:ext cx="1188720" cy="18703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4846320" y="3566160"/>
            <a:ext cx="1005840" cy="1870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4754880" y="333756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BA3E8"/>
                </a:solidFill>
                <a:latin typeface="Segoe UI"/>
              </a:defRPr>
            </a:pPr>
            <a:r>
              <a:t>HTML/CSS/JS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3337560"/>
            <a:ext cx="1188720" cy="41148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3383280"/>
            <a:ext cx="1188720" cy="18703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6126480" y="3566160"/>
            <a:ext cx="1005840" cy="1870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6035040" y="333756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BA3E8"/>
                </a:solidFill>
                <a:latin typeface="Segoe UI"/>
              </a:defRPr>
            </a:pPr>
            <a:r>
              <a:t>USASpending.gov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4023360"/>
            <a:ext cx="4023360" cy="640080"/>
          </a:xfrm>
          <a:prstGeom prst="rect">
            <a:avLst/>
          </a:prstGeom>
          <a:solidFill>
            <a:srgbClr val="182D4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0" y="4114800"/>
            <a:ext cx="384048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250" b="0">
                <a:solidFill>
                  <a:srgbClr val="C8D6E8"/>
                </a:solidFill>
                <a:latin typeface="Segoe UI"/>
              </a:defRPr>
            </a:pPr>
            <a:r>
              <a:t>All three datasets were merged into a unified relational structure indexed by service code, enabling cross-dataset filtering in the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Visual Analysis — Sector Density &amp; Company Presence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Which sectors hold the most SGC target companies, and how does national vs local presence compare?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FIG 1 — COMPANY COUNT BY SECTOR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55448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Segoe UI"/>
              </a:defRPr>
            </a:pPr>
            <a:r>
              <a:t>Finding: Finance &amp; Insurance leads with 27 companies; Technology &amp; Engineering (24) and Healthcare (21) follow as top SGC opportunity sectors.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FIG 2 — NATIONAL VS LOCAL PRESENCE BY INDUSTRY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663440" y="1554480"/>
          <a:ext cx="41148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66344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Segoe UI"/>
              </a:defRPr>
            </a:pPr>
            <a:r>
              <a:t>Finding: Finance &amp; Insurance and Healthcare combined account for 18 of 58 SGC priority targets, with strong national and local representation in both.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Visual Analysis — SDO Commitment &amp; Diversity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Distribution of supplier diversity commitments and which categories lead on CSR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FIG 3 — SDO COMMITMENT TIER DISTRIBUTION (1,234 VENDORS)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554480"/>
          <a:ext cx="41148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Segoe UI"/>
              </a:defRPr>
            </a:pPr>
            <a:r>
              <a:t>Finding: 54.8% of vendors commit less than 5% SDO, indicating significant room for SGC to champion diversity-first vendor selection in contract pitches.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FIG 4 — AVERAGE SDO % BY SERVICE CATEGORY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663440" y="1554480"/>
          <a:ext cx="41148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66344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Segoe UI"/>
              </a:defRPr>
            </a:pPr>
            <a:r>
              <a:t>Finding: Facilities (17.9%) and Staffing (13.2%) lead in diversity commitment — ideal segments for SGC's CSR-aligned contract pitches to government and non-profit clients.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Visual Analysis — Massachusetts Federal Spending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Where federal contract dollars flow in Massachusetts — mapping SGC's highest-value bidding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FIG 5 — TOP 10 NAICS SECTORS BY FEDERAL OBLIGATIONS IN MASSACHUSETTS (SOURCE: USASPENDING.GOV)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554480"/>
          <a:ext cx="841248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4114800"/>
            <a:ext cx="2743200" cy="640080"/>
          </a:xfrm>
          <a:prstGeom prst="rect">
            <a:avLst/>
          </a:prstGeom>
          <a:solidFill>
            <a:srgbClr val="E8F0F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25603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250" b="0">
                <a:solidFill>
                  <a:srgbClr val="1A1A2E"/>
                </a:solidFill>
                <a:latin typeface="Segoe UI"/>
              </a:defRPr>
            </a:pPr>
            <a:r>
              <a:t>Facilities Support ($19.5B) — SGC's facilities vendor network directly maps to the single largest federal obligation category in 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114800"/>
            <a:ext cx="2743200" cy="640080"/>
          </a:xfrm>
          <a:prstGeom prst="rect">
            <a:avLst/>
          </a:prstGeom>
          <a:solidFill>
            <a:srgbClr val="E8F0F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206240"/>
            <a:ext cx="25603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250" b="0">
                <a:solidFill>
                  <a:srgbClr val="1A1A2E"/>
                </a:solidFill>
                <a:latin typeface="Segoe UI"/>
              </a:defRPr>
            </a:pPr>
            <a:r>
              <a:t>R&amp;D &amp; Engineering ($20.9B combined) — Professional services consulting is a natural SGC entry point into these high-spend categories.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114800"/>
            <a:ext cx="2743200" cy="640080"/>
          </a:xfrm>
          <a:prstGeom prst="rect">
            <a:avLst/>
          </a:prstGeom>
          <a:solidFill>
            <a:srgbClr val="E8F0F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4206240"/>
            <a:ext cx="25603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250" b="0">
                <a:solidFill>
                  <a:srgbClr val="1A1A2E"/>
                </a:solidFill>
                <a:latin typeface="Segoe UI"/>
              </a:defRPr>
            </a:pPr>
            <a:r>
              <a:t>Healthcare &amp; Pharma ($16.4B combined) — Aligns with SGC's 9 Healthcare/Biotech target accounts and HHS as the top awarding agency.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Insights &amp; Strategic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Data-driven takeaways that directly inform SGC's business development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137160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371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Finance &amp; Healthcare dominate SGC's target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600200"/>
            <a:ext cx="3657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Finance &amp; Insurance (27 companies, 9 targets) and Healthcare &amp; Biotech (21 companies, 9 targets) represent the highest-density opportunity sectors for immediate outreach.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137160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417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371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Facilities is the strongest SDO performer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600200"/>
            <a:ext cx="3657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With an average SDO of 17.9% and Sustainable Facilities averaging 35.3%, this category offers SGC the most compelling diversity narrative for CSR-conscious clients.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246888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514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54.8% of vendors fall below 5% SDO commitment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697480"/>
            <a:ext cx="3657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A significant diversity gap exists across the vendor pool — SGC can position itself as a diversity-forward partner to address this gap in client supply chains.</a:t>
            </a:r>
          </a:p>
        </p:txBody>
      </p:sp>
      <p:sp>
        <p:nvSpPr>
          <p:cNvPr id="22" name="Oval 21"/>
          <p:cNvSpPr/>
          <p:nvPr/>
        </p:nvSpPr>
        <p:spPr>
          <a:xfrm>
            <a:off x="4663440" y="246888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514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 federal spend signals high-value contract verticals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697480"/>
            <a:ext cx="3657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Facilities Support ($19.5B), Building Construction ($17.9B), and Aircraft Manufacturing ($12.9B) are the top NAICS categories — all serviceable through SGC's current vendor network.</a:t>
            </a:r>
          </a:p>
        </p:txBody>
      </p:sp>
      <p:sp>
        <p:nvSpPr>
          <p:cNvPr id="26" name="Oval 25"/>
          <p:cNvSpPr/>
          <p:nvPr/>
        </p:nvSpPr>
        <p:spPr>
          <a:xfrm>
            <a:off x="365760" y="356616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66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HHS &amp; SSA represent 77.7% of top agency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794760"/>
            <a:ext cx="3657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Healthcare-adjacent and social services consulting is the dominant federal investment category in MA — a direct strategic priority for SGC's government contract bidding.</a:t>
            </a:r>
          </a:p>
        </p:txBody>
      </p:sp>
      <p:sp>
        <p:nvSpPr>
          <p:cNvPr id="30" name="Oval 29"/>
          <p:cNvSpPr/>
          <p:nvPr/>
        </p:nvSpPr>
        <p:spPr>
          <a:xfrm>
            <a:off x="4663440" y="356616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566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IT sector holds highest-SDO individual vendors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3794760"/>
            <a:ext cx="3657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NEWCOM Wireless (51%), Digit Outsource (46%), and CenturyLink (36%) are standout diversity-committed IT vendors SGC should prioritize in tech contract proposals.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What SGC should do next with the Growth Intelligence Toolkit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STRATEGIC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645920"/>
            <a:ext cx="365760" cy="36576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91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459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Prioritize Finance &amp; Healthcare outreach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74520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Activate the 18 combined SGC targets across these two sectors immediately using the vendor contact funnel.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423160"/>
            <a:ext cx="365760" cy="365760"/>
          </a:xfrm>
          <a:prstGeom prst="round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68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Leverage SDO data in contract pitches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651760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Use Facilities and Staffing SDO leaders as proof points when pitching CSR-aligned contracts to clients.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00400"/>
            <a:ext cx="365760" cy="365760"/>
          </a:xfrm>
          <a:prstGeom prst="round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Target HHS &amp; SSA-funded contracts in 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29000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With $26.9B combined obligations, healthcare and social services federal contracts are SGC's highest-value bidding opportunity.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77640"/>
            <a:ext cx="365760" cy="365760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023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77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Expand vendor SDO data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06240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387 vendors currently lack SDO data — enriching these records will strengthen SGC's diversity reporting and vendor selection process.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645920"/>
            <a:ext cx="4114800" cy="914400"/>
          </a:xfrm>
          <a:prstGeom prst="rect">
            <a:avLst/>
          </a:prstGeom>
          <a:solidFill>
            <a:srgbClr val="182D4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1737360"/>
            <a:ext cx="3931920" cy="7315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250" b="0">
                <a:solidFill>
                  <a:srgbClr val="C8D6E8"/>
                </a:solidFill>
                <a:latin typeface="Segoe UI"/>
              </a:defRPr>
            </a:pPr>
            <a:r>
              <a:t>The SGC Growth Intelligence Toolkit successfully transforms thousands of unstructured company and vendor records into a five-tab interactive dashboard that answers SGC's three core business questions on market density, vendor optimization, and diversity compliance.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651760"/>
            <a:ext cx="4114800" cy="822960"/>
          </a:xfrm>
          <a:prstGeom prst="rect">
            <a:avLst/>
          </a:prstGeom>
          <a:solidFill>
            <a:srgbClr val="182D4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2743200"/>
            <a:ext cx="393192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250" b="0">
                <a:solidFill>
                  <a:srgbClr val="C8D6E8"/>
                </a:solidFill>
                <a:latin typeface="Segoe UI"/>
              </a:defRPr>
            </a:pPr>
            <a:r>
              <a:t>By integrating Massachusetts federal spending data from USASpending.gov, the toolkit goes beyond internal data to position SGC with a real-world contract bidding strategy grounded in $100B+ of publicly tracked federal obligations.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93192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Deploy dashboard to SGC leadership team for live use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Refresh vendor and company data quarterly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Integrate Tableau/PowerBI version for enterprise-scale filtering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5FA5"/>
                </a:solidFill>
                <a:latin typeface="Segoe UI"/>
              </a:defRPr>
            </a:pPr>
            <a:r>
              <a:t>NORTHEASTERN UNIVERSITY · ALY6980 · WINTER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FA3B1"/>
                </a:solidFill>
                <a:latin typeface="Segoe UI"/>
              </a:defRPr>
            </a:pPr>
            <a:r>
              <a:t>We welcome any questions from SGC leadership and our faculty reviewers.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377440"/>
            <a:ext cx="6400800" cy="2011680"/>
          </a:xfrm>
          <a:prstGeom prst="roundRect">
            <a:avLst/>
          </a:prstGeom>
          <a:solidFill>
            <a:srgbClr val="142337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560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5FA5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585216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400"/>
              </a:spcAft>
              <a:defRPr sz="1100" b="0">
                <a:solidFill>
                  <a:srgbClr val="8FA3B1"/>
                </a:solidFill>
                <a:latin typeface="Segoe UI"/>
              </a:defRPr>
            </a:pPr>
            <a:r>
              <a:t>• USASpending.gov — Federal Contract &amp; Grant Obligations, Massachusetts, 2024</a:t>
            </a:r>
          </a:p>
          <a:p>
            <a:pPr>
              <a:spcAft>
                <a:spcPts val="400"/>
              </a:spcAft>
              <a:defRPr sz="1100" b="0">
                <a:solidFill>
                  <a:srgbClr val="8FA3B1"/>
                </a:solidFill>
                <a:latin typeface="Segoe UI"/>
              </a:defRPr>
            </a:pPr>
            <a:r>
              <a:t>• Commonwealth of Massachusetts — Statewide Contracts Vendor Database (mass.gov)</a:t>
            </a:r>
          </a:p>
          <a:p>
            <a:pPr>
              <a:spcAft>
                <a:spcPts val="400"/>
              </a:spcAft>
              <a:defRPr sz="1100" b="0">
                <a:solidFill>
                  <a:srgbClr val="8FA3B1"/>
                </a:solidFill>
                <a:latin typeface="Segoe UI"/>
              </a:defRPr>
            </a:pPr>
            <a:r>
              <a:t>• SGC Internal Dataset — Categorized Companies &amp; Vendor Contact Details, Winter 2026</a:t>
            </a:r>
          </a:p>
          <a:p>
            <a:pPr>
              <a:spcAft>
                <a:spcPts val="400"/>
              </a:spcAft>
              <a:defRPr sz="1100" b="0">
                <a:solidFill>
                  <a:srgbClr val="8FA3B1"/>
                </a:solidFill>
                <a:latin typeface="Segoe UI"/>
              </a:defRPr>
            </a:pPr>
            <a:r>
              <a:t>• NAICS Association — North American Industry Classification System Codes, 2024</a:t>
            </a:r>
          </a:p>
          <a:p>
            <a:pPr>
              <a:spcAft>
                <a:spcPts val="400"/>
              </a:spcAft>
              <a:defRPr sz="1100" b="0">
                <a:solidFill>
                  <a:srgbClr val="8FA3B1"/>
                </a:solidFill>
                <a:latin typeface="Segoe UI"/>
              </a:defRPr>
            </a:pPr>
            <a:r>
              <a:t>• Northeastern University CPS — ALY6980 Capstone Project Guidelines, Winter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